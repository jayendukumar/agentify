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8FB3FF"/>
                </a:solidFill>
                <a:latin typeface="Segoe UI"/>
              </a:rPr>
              <a:t>AXYNTRO · PROCESS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</a:rPr>
              <a:t>Invoice to Pay, rehearsed end to end before it is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0233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>
                <a:solidFill>
                  <a:srgbClr val="DFE7FF"/>
                </a:solidFill>
                <a:latin typeface="Segoe UI"/>
              </a:rPr>
              <a:t>Meridian Group's supplier-invoice process run as a digital twin: 9 AI agents, the people who stay in the loop, eight simulated systems and 75 realistic invoices, measured against how the process runs today.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A process owner doesn't ask 'does the agent work?'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3B4A75"/>
                </a:solidFill>
                <a:latin typeface="Segoe UI"/>
              </a:rPr>
              <a:t>They ask three things the twin answers with evidence: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79"/>
            <a:ext cx="34442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24027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377439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Does it work together?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07208"/>
            <a:ext cx="307848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Nine agents that each pass their own tests can still fail as a process: a hand-off loses a field, or a gateway routes on nothing.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640" y="2240279"/>
            <a:ext cx="34442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58640" y="224027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1520" y="2377439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Is it actually better?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520" y="2807208"/>
            <a:ext cx="307848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'86% automatable' is a forecast. Cycle time, people's time and cost per case, against today, are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2240279"/>
            <a:ext cx="34442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77200" y="224027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60080" y="2377439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Where does it break?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807208"/>
            <a:ext cx="307848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Which kind of invoice goes wrong, which step still needs people, and what to fix before go-live.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THE PROCESS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Invoice to Pay at Meridian Group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3B4A75"/>
                </a:solidFill>
                <a:latin typeface="Segoe UI"/>
              </a:rPr>
              <a:t>9,000 supplier invoices a month. Every step is done by a person today, roughly 75 FTE of hands-on work, before counting the days invoices wait in queues.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5D6A90"/>
                </a:solidFill>
                <a:latin typeface="Segoe UI"/>
              </a:rPr>
              <a:t>Plus three exits: rejected (unknown, blocked or sanctioned supplier), blocked (duplicate or fraud signal), and exceptions resolved with buyer and supplier.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79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>
            <a:solidFill>
              <a:srgbClr val="C9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1" y="228599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Invoice received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2240279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solidFill>
              <a:srgbClr val="C26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87752" y="228599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Capture invoice data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Accounts Payable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40279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solidFill>
              <a:srgbClr val="C26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228599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Verify supplier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Accounts Payable 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240279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solidFill>
              <a:srgbClr val="C26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228599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Check duplicates and fraud signals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Accounts Payable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2240279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solidFill>
              <a:srgbClr val="C26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1" y="228599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Match to PO and goods receipt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Accounts Payable Team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2240279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solidFill>
              <a:srgbClr val="C26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85832" y="228599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Resolve match exception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Accounts Payable Team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7472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solidFill>
              <a:srgbClr val="C26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1" y="352043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Code to GL and check VAT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Accounts Payable Team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347472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solidFill>
              <a:srgbClr val="C26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87752" y="352043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Approve spend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Budget Holder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47472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solidFill>
              <a:srgbClr val="C26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62272" y="352043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Post to ledger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Accounts Payable Team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47472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solidFill>
              <a:srgbClr val="C26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36792" y="352043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Schedule payment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Treasury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9" y="347472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solidFill>
              <a:srgbClr val="C26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11311" y="352043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Send remittance advice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Accounts Payable Team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12680" y="347472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>
            <a:solidFill>
              <a:srgbClr val="C9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85832" y="352043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Invoice paid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THE TO-BE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Agents for the work, people for judgement and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3B4A75"/>
                </a:solidFill>
                <a:latin typeface="Segoe UI"/>
              </a:rPr>
              <a:t>Axyntro's blueprint, grounded in policy AP-02, proposed an agent for 9 of the 12 steps. Fraud investigation and spend approval stay with people; this blueprint also left post to ledger with a person.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79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>
            <a:solidFill>
              <a:srgbClr val="C9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1" y="228599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Invoice received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2240279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DF4FF"/>
          </a:solidFill>
          <a:ln>
            <a:solidFill>
              <a:srgbClr val="006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87752" y="228599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Capture invoice data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40279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DF4FF"/>
          </a:solidFill>
          <a:ln>
            <a:solidFill>
              <a:srgbClr val="006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2272" y="228599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Verify supplier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240279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DF4FF"/>
          </a:solidFill>
          <a:ln>
            <a:solidFill>
              <a:srgbClr val="006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28599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Check duplicates and fraud signals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240279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solidFill>
              <a:srgbClr val="C26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1" y="228599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Investigate suspected fraud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Finance Controller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2240279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DF4FF"/>
          </a:solidFill>
          <a:ln>
            <a:solidFill>
              <a:srgbClr val="006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85832" y="228599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Match to PO and goods receipt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DF4FF"/>
          </a:solidFill>
          <a:ln>
            <a:solidFill>
              <a:srgbClr val="006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1" y="352043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Resolve match exception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14600" y="347472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DF4FF"/>
          </a:solidFill>
          <a:ln>
            <a:solidFill>
              <a:srgbClr val="006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87752" y="352043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Code to GL and check VAT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47472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solidFill>
              <a:srgbClr val="C26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62272" y="352043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Approve spend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Budget Holder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47472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solidFill>
              <a:srgbClr val="C26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6792" y="352043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Post to ledger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Accounts Payable Team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347472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DF4FF"/>
          </a:solidFill>
          <a:ln>
            <a:solidFill>
              <a:srgbClr val="006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11311" y="352043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Schedule payment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12680" y="347472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DF4FF"/>
          </a:solidFill>
          <a:ln>
            <a:solidFill>
              <a:srgbClr val="006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85832" y="352043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Send remittance advice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agent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70916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>
            <a:solidFill>
              <a:srgbClr val="C9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1" y="4754880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Invoice paid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D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ag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17295"/>
            <a:ext cx="7863840" cy="44234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21040" y="0"/>
            <a:ext cx="3870655" cy="6858000"/>
          </a:xfrm>
          <a:prstGeom prst="rect">
            <a:avLst/>
          </a:prstGeom>
          <a:solidFill>
            <a:srgbClr val="16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49640" y="4572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8FB3FF"/>
                </a:solidFill>
                <a:latin typeface="Segoe UI"/>
              </a:rPr>
              <a:t>THE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40" y="777240"/>
            <a:ext cx="3474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"/>
              </a:rPr>
              <a:t>One generated agent per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2011680"/>
            <a:ext cx="34747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DFE7FF"/>
                </a:solidFill>
                <a:latin typeface="Segoe UI"/>
              </a:rPr>
              <a:t>• 9 agents, each with purpose, inputs and outputs, tools, permissions, guardrails and escalation</a:t>
            </a:r>
          </a:p>
          <a:p>
            <a:r>
              <a:rPr sz="1200" b="0">
                <a:solidFill>
                  <a:srgbClr val="DFE7FF"/>
                </a:solidFill>
                <a:latin typeface="Segoe UI"/>
              </a:rPr>
              <a:t>• Human checkpoints where the policy asks for review</a:t>
            </a:r>
          </a:p>
          <a:p>
            <a:r>
              <a:rPr sz="1200" b="0">
                <a:solidFill>
                  <a:srgbClr val="DFE7FF"/>
                </a:solidFill>
                <a:latin typeface="Segoe UI"/>
              </a:rPr>
              <a:t>• Every agent simulation-ready: typed outputs, tool contracts, a test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5212080"/>
            <a:ext cx="3474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r>
              <a:rPr sz="1100" b="0">
                <a:solidFill>
                  <a:srgbClr val="8FB3FF"/>
                </a:solidFill>
                <a:latin typeface="Segoe UI"/>
              </a:rPr>
              <a:t>The agents are specifications Axyntro can test, not prompts in a notebook.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THE TWIN'S INGREDIENTS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Four things make a process twin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39"/>
            <a:ext cx="53035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63039"/>
            <a:ext cx="530352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600199"/>
            <a:ext cx="49377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29967"/>
            <a:ext cx="4937759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9 generated agents, one per automatable step.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39"/>
            <a:ext cx="53035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463039"/>
            <a:ext cx="530352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00199"/>
            <a:ext cx="49377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A world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7"/>
            <a:ext cx="4937759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8 simulated systems answering from 239 sample records: vendor master, purchase orders, ledger, sanctions list, tax rules, inbox, payments, email.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94759"/>
            <a:ext cx="53035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794759"/>
            <a:ext cx="530352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3931920"/>
            <a:ext cx="49377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361688"/>
            <a:ext cx="4937759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75 invoices across 10 kinds, each with the outcome policy AP-02 requires.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94759"/>
            <a:ext cx="53035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794759"/>
            <a:ext cx="530352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3931920"/>
            <a:ext cx="49377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Today's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61688"/>
            <a:ext cx="4937759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An operating model from a time and motion study: handling and waiting times per step, the cost of four roles, 9,000 invoices a month.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THE SIMULATED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Systems answer from sample data, not invention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3B4A75"/>
                </a:solidFill>
                <a:latin typeface="Segoe UI"/>
              </a:rPr>
              <a:t>Each agent's tools are wired to records, so a lookup returns the same answer every time and the right outcome is knowable.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5D6A90"/>
                </a:solidFill>
                <a:latin typeface="Segoe UI"/>
              </a:rPr>
              <a:t>Not backed by data (an LLM plays them): Logging System.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240279"/>
          <a:ext cx="10881360" cy="3706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Records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it holds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Agent systems it serves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 ledger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Accounts payable sub-ledger: posted and paid invoices; post a new invo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ERP Accounts Payable Module, ERP System, ERP/AP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Chart of accounts and tax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GL accounts and VAT rates by supplier country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ERP Accounts Payable Module, GL Mapping Configuration, Tax Calculation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ERP purchasing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Purchase orders and goods receipts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ERP Accounts Payable Module, ERP System, ERP/AP Database, Goods Receipt Module, Purchase 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Invoice inbox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Received supplier invoices with captured (OCR) fields, by document 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Document Store, NLP Entity Recognition Model, OCR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Payment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Treasury payment runs; schedule a payment, look up scheduled 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Treasury Management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Sanctions screening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Sanctions and watchlist screening; returns listed entities matching a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Sanctions Screening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Supplier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Outbound supplier correspondence (rejections, queries, remittance advi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Communication Platform, Document Generation Service, Email Client, Email Service, Email Sy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Vendor master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Supplier master data: legal name, VAT number, bank account, status, 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Fraud Detection Heuristics Engine, Vendor Master Database, Vendor Master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GROUND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Invoices with planted problems and known right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3B4A75"/>
                </a:solidFill>
                <a:latin typeface="Segoe UI"/>
              </a:rPr>
              <a:t>Generated from facts, not labelled by a model: a duplicate is in the ledger, a fraud signal is a fresh bank account that doesn't match.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40279"/>
          <a:ext cx="1088136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2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Kind of invoice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Cases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Right outcome under AP-02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clean 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 -- paid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clean large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 -- paid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price 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 -- paid via exception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messy capture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 -- paid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duplicate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escalate -- blocked for investigation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bank change fraud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escalate -- blocked for investigation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missing goods receipt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 -- paid via exception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blocked supplier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reject -- rejected at supplier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unknown supplier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reject -- rejected at supplier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sanctioned supplier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reject -- rejected at supplier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D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operating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17295"/>
            <a:ext cx="7863840" cy="44234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21040" y="0"/>
            <a:ext cx="3870655" cy="6858000"/>
          </a:xfrm>
          <a:prstGeom prst="rect">
            <a:avLst/>
          </a:prstGeom>
          <a:solidFill>
            <a:srgbClr val="16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49640" y="4572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8FB3FF"/>
                </a:solidFill>
                <a:latin typeface="Segoe UI"/>
              </a:rPr>
              <a:t>TODAY'S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40" y="777240"/>
            <a:ext cx="3474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"/>
              </a:rPr>
              <a:t>How the process runs today, step by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2011680"/>
            <a:ext cx="34747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DFE7FF"/>
                </a:solidFill>
                <a:latin typeface="Segoe UI"/>
              </a:rPr>
              <a:t>• Hands-on time and queue time per step, as minimum / most likely / maximum</a:t>
            </a:r>
          </a:p>
          <a:p>
            <a:r>
              <a:rPr sz="1200" b="0">
                <a:solidFill>
                  <a:srgbClr val="DFE7FF"/>
                </a:solidFill>
                <a:latin typeface="Segoe UI"/>
              </a:rPr>
              <a:t>• Hourly cost per role: AP team, controller, budget holder, treasury</a:t>
            </a:r>
          </a:p>
          <a:p>
            <a:r>
              <a:rPr sz="1200" b="0">
                <a:solidFill>
                  <a:srgbClr val="DFE7FF"/>
                </a:solidFill>
                <a:latin typeface="Segoe UI"/>
              </a:rPr>
              <a:t>• Volume: 9,000 invoices a month; 1,600 productive hours per FTE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5212080"/>
            <a:ext cx="3474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r>
              <a:rPr sz="1100" b="0">
                <a:solidFill>
                  <a:srgbClr val="8FB3FF"/>
                </a:solidFill>
                <a:latin typeface="Segoe UI"/>
              </a:rPr>
              <a:t>Savings are measured against these numbers, not against zero.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ONE CASE,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The rehearsal: INV-2026-0003 through every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3B4A75"/>
                </a:solidFill>
                <a:latin typeface="Segoe UI"/>
              </a:rPr>
              <a:t>A case file carries every fact forward. Agents decide judgement gateways; the confirmed AP-02 rule decides the EUR 10,000 approval.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5D6A90"/>
                </a:solidFill>
                <a:latin typeface="Segoe UI"/>
              </a:rPr>
              <a:t>Status COMPLETED; AI cost $0.0076 for the whole case. A clean invoice, yet the matching agent sent it to exception handling (t7): the kind of behaviour the twin then measures over many cases.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79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>
            <a:solidFill>
              <a:srgbClr val="C9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1" y="228599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2240279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DF4FF"/>
          </a:solidFill>
          <a:ln>
            <a:solidFill>
              <a:srgbClr val="006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87752" y="228599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t1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Capture invoice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40279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DF4FF"/>
          </a:solidFill>
          <a:ln>
            <a:solidFill>
              <a:srgbClr val="006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228599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t2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Verify supplier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240279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solidFill>
              <a:srgbClr val="5D6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228599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Gate g1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2240279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DF4FF"/>
          </a:solidFill>
          <a:ln>
            <a:solidFill>
              <a:srgbClr val="006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1" y="228599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t4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Check duplicates and fraud signals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2240279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solidFill>
              <a:srgbClr val="5D6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85832" y="228599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Gate g2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7472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DF4FF"/>
          </a:solidFill>
          <a:ln>
            <a:solidFill>
              <a:srgbClr val="006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1" y="352043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t6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Match to PO and goods receipt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347472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solidFill>
              <a:srgbClr val="5D6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87752" y="352043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Gate g3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47472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DF4FF"/>
          </a:solidFill>
          <a:ln>
            <a:solidFill>
              <a:srgbClr val="006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62272" y="352043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t7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Resolve match exception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47472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DF4FF"/>
          </a:solidFill>
          <a:ln>
            <a:solidFill>
              <a:srgbClr val="006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36792" y="352043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t8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Code to GL and check VAT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9" y="347472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solidFill>
              <a:srgbClr val="5D6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11311" y="352043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Gate g4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12680" y="347472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solidFill>
              <a:srgbClr val="C26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85832" y="3520439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t10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Post to ledger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70916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DF4FF"/>
          </a:solidFill>
          <a:ln>
            <a:solidFill>
              <a:srgbClr val="006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1" y="4754880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t11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Schedule payment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470916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DF4FF"/>
          </a:solidFill>
          <a:ln>
            <a:solidFill>
              <a:srgbClr val="006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87752" y="4754880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t12</a:t>
            </a:r>
          </a:p>
          <a:p>
            <a:r>
              <a:rPr sz="900" b="1">
                <a:solidFill>
                  <a:srgbClr val="16245C"/>
                </a:solidFill>
                <a:latin typeface="Segoe UI"/>
              </a:rPr>
              <a:t>Send remittance advice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470916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>
            <a:solidFill>
              <a:srgbClr val="C9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62272" y="4754880"/>
            <a:ext cx="14996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16245C"/>
                </a:solidFill>
                <a:latin typeface="Segoe UI"/>
              </a:rPr>
              <a:t>e3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8FB3FF"/>
                </a:solidFill>
                <a:latin typeface="Segoe UI"/>
              </a:rPr>
              <a:t>RUN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egoe UI"/>
              </a:rPr>
              <a:t>The twin, as generated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0233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>
                <a:solidFill>
                  <a:srgbClr val="DFE7FF"/>
                </a:solidFill>
                <a:latin typeface="Segoe UI"/>
              </a:rPr>
              <a:t>30 invoices, every agent, every decision point.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RUN 1 · AS GENERATED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What the first run showed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3B4A75"/>
                </a:solidFill>
                <a:latin typeface="Segoe UI"/>
              </a:rPr>
              <a:t>Over 30 cases, the to-be process finished 23 end to end; 0% went straight through with no person involved. It reached the right outcome in 67% of labelled cases (49%-81%). People's time per case falls by 26% and cycle time by 70%; at 9,000 cases a month that frees about 20.1 FTE (8.8-33.1).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79"/>
            <a:ext cx="254889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2377439"/>
            <a:ext cx="21831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5D6A90"/>
                </a:solidFill>
                <a:latin typeface="Segoe UI"/>
              </a:rPr>
              <a:t>FINISHED END TO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218313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16245C"/>
                </a:solidFill>
                <a:latin typeface="Segoe UI"/>
              </a:rPr>
              <a:t>23/30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383279"/>
            <a:ext cx="218313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B4A75"/>
                </a:solidFill>
                <a:latin typeface="Segoe UI"/>
              </a:rPr>
              <a:t>7 cases fell back to a person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7570" y="2240279"/>
            <a:ext cx="254889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00450" y="2377439"/>
            <a:ext cx="21831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5D6A90"/>
                </a:solidFill>
                <a:latin typeface="Segoe UI"/>
              </a:rPr>
              <a:t>STRAIGHT 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450" y="2651760"/>
            <a:ext cx="218313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16245C"/>
                </a:solidFill>
                <a:latin typeface="Segoe UI"/>
              </a:rP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450" y="3383279"/>
            <a:ext cx="218313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B4A75"/>
                </a:solidFill>
                <a:latin typeface="Segoe UI"/>
              </a:rPr>
              <a:t>no person involved (0%-11%)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2240279"/>
            <a:ext cx="254889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7940" y="2377439"/>
            <a:ext cx="21831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5D6A90"/>
                </a:solidFill>
                <a:latin typeface="Segoe UI"/>
              </a:rPr>
              <a:t>RIGHT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7940" y="2651760"/>
            <a:ext cx="218313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16245C"/>
                </a:solidFill>
                <a:latin typeface="Segoe UI"/>
              </a:rPr>
              <a:t>67%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7940" y="3383279"/>
            <a:ext cx="218313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B4A75"/>
                </a:solidFill>
                <a:latin typeface="Segoe UI"/>
              </a:rPr>
              <a:t>against AP-02 (49%-81%, 95% confidence)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2550" y="2240279"/>
            <a:ext cx="254889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55430" y="2377439"/>
            <a:ext cx="21831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5D6A90"/>
                </a:solidFill>
                <a:latin typeface="Segoe UI"/>
              </a:rPr>
              <a:t>AI COST PER INVOICE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5430" y="2651760"/>
            <a:ext cx="218313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16245C"/>
                </a:solidFill>
                <a:latin typeface="Segoe UI"/>
              </a:rPr>
              <a:t>$0.004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5430" y="3383279"/>
            <a:ext cx="218313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B4A75"/>
                </a:solidFill>
                <a:latin typeface="Segoe UI"/>
              </a:rPr>
              <a:t>every agent turn included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RUN 1 · WHERE IT BREAKS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Results by kind of invoice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3B4A75"/>
                </a:solidFill>
                <a:latin typeface="Segoe UI"/>
              </a:rPr>
              <a:t>Weakest first. A strong average can hide a weak segment.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40279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Kind of invoice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Cases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Right outcome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Straight through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messy capture  [Critical]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0% (0/2)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bank change fraud  [Critical]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50% (2/4)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price variance  [Critical]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50% (1/2)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clean small  [Critical]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56% (5/9)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clean large  [High]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67% (2/3)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blocked supplier  [Strength]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100% (1/1)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duplicate  [Strength]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100% (6/6)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missing goods receipt  [Strength]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100% (1/1)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sanctioned supplier  [Strength]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100% (2/2)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WHAT THE TWIN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Defects found before production, not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3B4A75"/>
                </a:solidFill>
                <a:latin typeface="Segoe UI"/>
              </a:rPr>
              <a:t>Each of these would have reached production unseen in a step-by-step agent test. From run 1's case table: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5D6A90"/>
                </a:solidFill>
                <a:latin typeface="Segoe UI"/>
              </a:rPr>
              <a:t>Critical: a fraud signal that ends in payment. Warnings: wrong outcome, or a case that fell back to a person.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240279"/>
          <a:ext cx="10881360" cy="4620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32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Invoice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Kind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Expected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Twin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happened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INV-2026-0007  [High]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bank change fraud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escalate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Code to GL and check VAT: final answer not valid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INV-2026-0011  [Critical]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bank change fraud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escalate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routed to approve after: Send remittance advice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INV-2026-0027  [High]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clean 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escalated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Send remittance advice: Exceeded max_tool_calls (10)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INV-2026-0033  [High]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price 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Code to GL and check VAT: final answer not valid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INV-2026-0034  [High]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clean 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escalated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Send remittance advice: Exceeded max_steps (8) without producing a final 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INV-2026-0036  [High]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messy capture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escalate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routed to escalate after: Investigate suspected fraud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INV-2026-0037  [High]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clean 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Resolve match exception: final answer not valid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INV-2026-0048  [High]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clean large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routed to reject after: Reject and notify supplier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INV-2026-0054  [High]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clean 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Send remittance advice: Agent called an unknown tool 'remittancesend' that wasn't offered to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INV-2026-0069  [High]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messy capture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Check duplicates and fraud signals: final answer not valid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RUN 2 · THE SAME INVOICES AGAIN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Same invoices, same seed, different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3B4A75"/>
                </a:solidFill>
                <a:latin typeface="Segoe UI"/>
              </a:rPr>
              <a:t>Repeating run 1 exactly changed the outcome of 16 of 30 invoices; for 13 it changed whether the answer was right. Agents built on language models aren't deterministic, and only repeated runs show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5D6A90"/>
                </a:solidFill>
                <a:latin typeface="Segoe UI"/>
              </a:rPr>
              <a:t>Right outcome: run 1 67%, repeat 63%. A release gate should require repeated runs per case (Epic 34 trials) before trusting a single number.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240279"/>
          <a:ext cx="1088136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32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Invoice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Kind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Expected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Run 1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Repeat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INV-2026-0007  [Right &lt;-&gt; wrong]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bank change fraud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escalate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escalate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INV-2026-0011  [Right &lt;-&gt; wrong]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bank change fraud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escalate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escalate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INV-2026-0016  [Right &lt;-&gt; wrong]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clean 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INV-2026-0025  [Right &lt;-&gt; wrong]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sanctioned supplier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INV-2026-0027  [Right &lt;-&gt; wrong]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clean 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escalated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INV-2026-0028  [Right &lt;-&gt; wrong]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clean 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escalate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INV-2026-0030  [Right &lt;-&gt; wrong]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clean 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escalated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INV-2026-0033  [Right &lt;-&gt; wrong]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price 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INV-2026-0034  [Other change]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clean 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escalated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INV-2026-0036  [Other change]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messy capture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escalate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timed_out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8FB3FF"/>
                </a:solidFill>
                <a:latin typeface="Segoe UI"/>
              </a:rPr>
              <a:t>RUN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egoe UI"/>
              </a:rPr>
              <a:t>Fix what the twin found, then run again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0233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>
                <a:solidFill>
                  <a:srgbClr val="DFE7FF"/>
                </a:solidFill>
                <a:latin typeface="Segoe UI"/>
              </a:rPr>
              <a:t>Sandbox and runtime fixes, the same 30 invoices, the same seed.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THE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What changed between run 1 and run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10789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7899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3B4A75"/>
                </a:solidFill>
                <a:latin typeface="Segoe UI"/>
              </a:rPr>
              <a:t>• Sandbox: 'Document Generation Service' is now backed by Supplier email (was Invoice inbox).</a:t>
            </a:r>
          </a:p>
          <a:p>
            <a:r>
              <a:rPr sz="1400" b="0">
                <a:solidFill>
                  <a:srgbClr val="3B4A75"/>
                </a:solidFill>
                <a:latin typeface="Segoe UI"/>
              </a:rPr>
              <a:t>• Sandbox: 'NLP Entity Recognition Model' is now backed by Invoice inbox (was an LLM).</a:t>
            </a:r>
          </a:p>
          <a:p>
            <a:r>
              <a:rPr sz="1400" b="0">
                <a:solidFill>
                  <a:srgbClr val="3B4A75"/>
                </a:solidFill>
                <a:latin typeface="Segoe UI"/>
              </a:rPr>
              <a:t>• Runtime: an agent whose final answer isn't valid JSON gets one recorded repair turn, as a production runtime would 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RUN 1 VS RUN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Same invoices, same seed: the effect of the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5D6A90"/>
                </a:solidFill>
                <a:latin typeface="Segoe UI"/>
              </a:rPr>
              <a:t>Both runs use the same 30 invoices and seed. Run-to-run variation (previous slide) is of the same order as some of these differences: read them with their intervals.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39"/>
          <a:ext cx="1088136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Measure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Run 1 (as generated)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Run 3 (after fixes)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Finished end to 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23/30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24/30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Right outcome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67% (49%-81%)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77% (59%-88%)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Straight through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People time per invoice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51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55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AI cost per invoice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$0.004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$0.004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  messy capture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  bank change fraud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  price 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  clean 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  clean large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Today vs with agents, per invoice (run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3B4A75"/>
                </a:solidFill>
                <a:latin typeface="Segoe UI"/>
              </a:rPr>
              <a:t>The same invoices costed both ways, on the same random draws, so the difference is the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5D6A90"/>
                </a:solidFill>
                <a:latin typeface="Segoe UI"/>
              </a:rPr>
              <a:t>Cycle time 75% shorter (60%-86%); people's time 17% lower (6%-30%). 95% paired bootstrap ranges.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40279"/>
            <a:ext cx="182880" cy="182880"/>
          </a:xfrm>
          <a:prstGeom prst="rect">
            <a:avLst/>
          </a:prstGeom>
          <a:solidFill>
            <a:srgbClr val="C26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2240279"/>
            <a:ext cx="182880" cy="182880"/>
          </a:xfrm>
          <a:prstGeom prst="rect">
            <a:avLst/>
          </a:prstGeom>
          <a:solidFill>
            <a:srgbClr val="00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6040" y="217627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With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16245C"/>
                </a:solidFill>
                <a:latin typeface="Segoe UI"/>
              </a:rPr>
              <a:t>Cycle time (working time, waits + handling)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5351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3B4A75"/>
                </a:solidFill>
                <a:latin typeface="Segoe UI"/>
              </a:rPr>
              <a:t>Today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2999232"/>
            <a:ext cx="7315200" cy="219456"/>
          </a:xfrm>
          <a:prstGeom prst="rect">
            <a:avLst/>
          </a:prstGeom>
          <a:solidFill>
            <a:srgbClr val="C26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0" y="295351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3B4A75"/>
                </a:solidFill>
                <a:latin typeface="Segoe UI"/>
              </a:rPr>
              <a:t>31.5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6440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3B4A75"/>
                </a:solidFill>
                <a:latin typeface="Segoe UI"/>
              </a:rPr>
              <a:t>With agents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3310127"/>
            <a:ext cx="1810826" cy="219456"/>
          </a:xfrm>
          <a:prstGeom prst="rect">
            <a:avLst/>
          </a:prstGeom>
          <a:solidFill>
            <a:srgbClr val="00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0" y="326440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3B4A75"/>
                </a:solidFill>
                <a:latin typeface="Segoe UI"/>
              </a:rPr>
              <a:t>7.8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16245C"/>
                </a:solidFill>
                <a:latin typeface="Segoe UI"/>
              </a:rPr>
              <a:t>People's hands-on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0507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3B4A75"/>
                </a:solidFill>
                <a:latin typeface="Segoe UI"/>
              </a:rPr>
              <a:t>Today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4050791"/>
            <a:ext cx="7315200" cy="219456"/>
          </a:xfrm>
          <a:prstGeom prst="rect">
            <a:avLst/>
          </a:prstGeom>
          <a:solidFill>
            <a:srgbClr val="C26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0" y="400507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3B4A75"/>
                </a:solidFill>
                <a:latin typeface="Segoe UI"/>
              </a:rPr>
              <a:t>67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1596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3B4A75"/>
                </a:solidFill>
                <a:latin typeface="Segoe UI"/>
              </a:rPr>
              <a:t>With agents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4361688"/>
            <a:ext cx="6054299" cy="219456"/>
          </a:xfrm>
          <a:prstGeom prst="rect">
            <a:avLst/>
          </a:prstGeom>
          <a:solidFill>
            <a:srgbClr val="00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0" y="431596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3B4A75"/>
                </a:solidFill>
                <a:latin typeface="Segoe UI"/>
              </a:rPr>
              <a:t>55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54879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16245C"/>
                </a:solidFill>
                <a:latin typeface="Segoe UI"/>
              </a:rPr>
              <a:t>Cost per invoice (labour + AI)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56631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3B4A75"/>
                </a:solidFill>
                <a:latin typeface="Segoe UI"/>
              </a:rPr>
              <a:t>Today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5102351"/>
            <a:ext cx="7315200" cy="219456"/>
          </a:xfrm>
          <a:prstGeom prst="rect">
            <a:avLst/>
          </a:prstGeom>
          <a:solidFill>
            <a:srgbClr val="C26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0" y="5056631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3B4A75"/>
                </a:solidFill>
                <a:latin typeface="Segoe UI"/>
              </a:rPr>
              <a:t>EUR 82.14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67527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3B4A75"/>
                </a:solidFill>
                <a:latin typeface="Segoe UI"/>
              </a:rPr>
              <a:t>With agents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5413247"/>
            <a:ext cx="6530601" cy="219456"/>
          </a:xfrm>
          <a:prstGeom prst="rect">
            <a:avLst/>
          </a:prstGeom>
          <a:solidFill>
            <a:srgbClr val="00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5367527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3B4A75"/>
                </a:solidFill>
                <a:latin typeface="Segoe UI"/>
              </a:rPr>
              <a:t>EUR 73.33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THE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At 9,000 invoices a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3B4A75"/>
                </a:solidFill>
                <a:latin typeface="Segoe UI"/>
              </a:rPr>
              <a:t>Extrapolated from the twin's sample; every assumption is stated in the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5D6A90"/>
                </a:solidFill>
                <a:latin typeface="Segoe UI"/>
              </a:rPr>
              <a:t>A case the twin could not finish is counted as handled fully by hand (6 cases). Annual figures extrapolate the sample mean to 9,000 cases a month and 1,600 productive hours per FTE; intervals are 95% bootstrap ranges.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79"/>
            <a:ext cx="254889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377439"/>
            <a:ext cx="21831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5D6A90"/>
                </a:solidFill>
                <a:latin typeface="Segoe UI"/>
              </a:rPr>
              <a:t>PEOPLE HOURS RELEASED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51760"/>
            <a:ext cx="218313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16245C"/>
                </a:solidFill>
                <a:latin typeface="Segoe UI"/>
              </a:rPr>
              <a:t>20,671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83279"/>
            <a:ext cx="218313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B4A75"/>
                </a:solidFill>
                <a:latin typeface="Segoe UI"/>
              </a:rPr>
              <a:t>a year (7,160-34,106)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7570" y="2240279"/>
            <a:ext cx="254889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00450" y="2377439"/>
            <a:ext cx="21831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5D6A90"/>
                </a:solidFill>
                <a:latin typeface="Segoe UI"/>
              </a:rPr>
              <a:t>FTE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450" y="2651760"/>
            <a:ext cx="218313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16245C"/>
                </a:solidFill>
                <a:latin typeface="Segoe UI"/>
              </a:rPr>
              <a:t>12.9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450" y="3383279"/>
            <a:ext cx="218313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B4A75"/>
                </a:solidFill>
                <a:latin typeface="Segoe UI"/>
              </a:rPr>
              <a:t>of about 75 today (4.5-21.3)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2240279"/>
            <a:ext cx="254889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7940" y="2377439"/>
            <a:ext cx="21831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5D6A90"/>
                </a:solidFill>
                <a:latin typeface="Segoe UI"/>
              </a:rPr>
              <a:t>COST SAVED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7940" y="2651760"/>
            <a:ext cx="218313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dirty="0">
                <a:solidFill>
                  <a:srgbClr val="16245C"/>
                </a:solidFill>
                <a:latin typeface="Segoe UI"/>
              </a:rPr>
              <a:t>EUR 951,728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7940" y="3383279"/>
            <a:ext cx="218313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B4A75"/>
                </a:solidFill>
                <a:latin typeface="Segoe UI"/>
              </a:rPr>
              <a:t>a year (EUR 350,741-EUR 1.6m)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2550" y="2240279"/>
            <a:ext cx="254889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30" y="2377439"/>
            <a:ext cx="21831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5D6A90"/>
                </a:solidFill>
                <a:latin typeface="Segoe UI"/>
              </a:rPr>
              <a:t>CYCLE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5430" y="2606039"/>
            <a:ext cx="218313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 dirty="0">
                <a:solidFill>
                  <a:srgbClr val="16245C"/>
                </a:solidFill>
                <a:latin typeface="Segoe UI"/>
              </a:rPr>
              <a:t>75%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5430" y="3383279"/>
            <a:ext cx="218313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B4A75"/>
                </a:solidFill>
                <a:latin typeface="Segoe UI"/>
              </a:rPr>
              <a:t>shorter, waits included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Where people stay, and what each agent costs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39"/>
          <a:ext cx="10881360" cy="6142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872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Done by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Cases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Agent time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Asks for review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People time today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With agents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Capture invoice data from the received docum  [High]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36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6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0.8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Verify supplier against the vendor master an  [High]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4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2.8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Reject invoice and notify the supplier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48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0.0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Check for duplicate invoices and payment fra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37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4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2.1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Investigate suspected duplicate or fraud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Person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60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60.0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Match invoice to purchase order and goods 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51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8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0.0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Resolve the match exception with buyer and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102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35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3.0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Code invoice to GL accounts and validate VAT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55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0.0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Approve invoice 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Person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8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8.0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Post invoice to the ERP ledger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Person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3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3.0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Schedule payment in the next payment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50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2.6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87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Send remittance advice to the supplier  [High]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54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4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0.0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D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report-h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17295"/>
            <a:ext cx="7863840" cy="44234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21040" y="0"/>
            <a:ext cx="3870655" cy="6858000"/>
          </a:xfrm>
          <a:prstGeom prst="rect">
            <a:avLst/>
          </a:prstGeom>
          <a:solidFill>
            <a:srgbClr val="16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49640" y="4572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8FB3FF"/>
                </a:solidFill>
                <a:latin typeface="Segoe UI"/>
              </a:rPr>
              <a:t>IN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40" y="777240"/>
            <a:ext cx="3474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"/>
              </a:rPr>
              <a:t>The process twin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2011680"/>
            <a:ext cx="34747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DFE7FF"/>
                </a:solidFill>
                <a:latin typeface="Segoe UI"/>
              </a:rPr>
              <a:t>• Headline in plain language, with confidence ranges</a:t>
            </a:r>
          </a:p>
          <a:p>
            <a:r>
              <a:rPr sz="1200" b="0">
                <a:solidFill>
                  <a:srgbClr val="DFE7FF"/>
                </a:solidFill>
                <a:latin typeface="Segoe UI"/>
              </a:rPr>
              <a:t>• Today vs with agents, on one scale per measure</a:t>
            </a:r>
          </a:p>
          <a:p>
            <a:r>
              <a:rPr sz="1200" b="0">
                <a:solidFill>
                  <a:srgbClr val="DFE7FF"/>
                </a:solidFill>
                <a:latin typeface="Segoe UI"/>
              </a:rPr>
              <a:t>• Per step, per kind of case, outcome matrix, routes taken, every case drillable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5212080"/>
            <a:ext cx="3474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r>
              <a:rPr sz="1100" b="0">
                <a:solidFill>
                  <a:srgbClr val="8FB3FF"/>
                </a:solidFill>
                <a:latin typeface="Segoe UI"/>
              </a:rPr>
              <a:t>The same view a process owner uses to decide go or no-go.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D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17295"/>
            <a:ext cx="7863840" cy="44234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21040" y="0"/>
            <a:ext cx="3870655" cy="6858000"/>
          </a:xfrm>
          <a:prstGeom prst="rect">
            <a:avLst/>
          </a:prstGeom>
          <a:solidFill>
            <a:srgbClr val="16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49640" y="4572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8FB3FF"/>
                </a:solidFill>
                <a:latin typeface="Segoe UI"/>
              </a:rPr>
              <a:t>IN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40" y="777240"/>
            <a:ext cx="3474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"/>
              </a:rPr>
              <a:t>By kind of case, and the outcome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2011680"/>
            <a:ext cx="34747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DFE7FF"/>
                </a:solidFill>
                <a:latin typeface="Segoe UI"/>
              </a:rPr>
              <a:t>• Weak segments highlighted, never colour alone</a:t>
            </a:r>
          </a:p>
          <a:p>
            <a:r>
              <a:rPr sz="1200" b="0">
                <a:solidFill>
                  <a:srgbClr val="DFE7FF"/>
                </a:solidFill>
                <a:latin typeface="Segoe UI"/>
              </a:rPr>
              <a:t>• Expected vs actual outcome for every labelled invoice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BEFORE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What the twin proves, and what it doesn't yet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39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EC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19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6245C"/>
                </a:solidFill>
                <a:latin typeface="Segoe UI"/>
              </a:rPr>
              <a:t>Proven in the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3B4A75"/>
                </a:solidFill>
                <a:latin typeface="Segoe UI"/>
              </a:rPr>
              <a:t>• The whole process works together, on realistic data</a:t>
            </a:r>
          </a:p>
          <a:p>
            <a:r>
              <a:rPr sz="1300" b="0">
                <a:solidFill>
                  <a:srgbClr val="3B4A75"/>
                </a:solidFill>
                <a:latin typeface="Segoe UI"/>
              </a:rPr>
              <a:t>• Which invoices go wrong, and why, per step and per kind</a:t>
            </a:r>
          </a:p>
          <a:p>
            <a:r>
              <a:rPr sz="1300" b="0">
                <a:solidFill>
                  <a:srgbClr val="3B4A75"/>
                </a:solidFill>
                <a:latin typeface="Segoe UI"/>
              </a:rPr>
              <a:t>• The business case, on stated assumptions, with ranges</a:t>
            </a:r>
          </a:p>
          <a:p>
            <a:r>
              <a:rPr sz="1300" b="0">
                <a:solidFill>
                  <a:srgbClr val="3B4A75"/>
                </a:solidFill>
                <a:latin typeface="Segoe UI"/>
              </a:rPr>
              <a:t>• Fixes measured on the same cases before they 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39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16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645919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"/>
              </a:rPr>
              <a:t>Still needed for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DFE7FF"/>
                </a:solidFill>
                <a:latin typeface="Segoe UI"/>
              </a:rPr>
              <a:t>• A production agent runtime with identity and a kill switch</a:t>
            </a:r>
          </a:p>
          <a:p>
            <a:r>
              <a:rPr sz="1300" b="0">
                <a:solidFill>
                  <a:srgbClr val="DFE7FF"/>
                </a:solidFill>
                <a:latin typeface="Segoe UI"/>
              </a:rPr>
              <a:t>• Real connectors to ERP, vendor master and bank</a:t>
            </a:r>
          </a:p>
          <a:p>
            <a:r>
              <a:rPr sz="1300" b="0">
                <a:solidFill>
                  <a:srgbClr val="DFE7FF"/>
                </a:solidFill>
                <a:latin typeface="Segoe UI"/>
              </a:rPr>
              <a:t>• Queueing under load (waits are sampled, not simulated)</a:t>
            </a:r>
          </a:p>
          <a:p>
            <a:r>
              <a:rPr sz="1300" b="0">
                <a:solidFill>
                  <a:srgbClr val="DFE7FF"/>
                </a:solidFill>
                <a:latin typeface="Segoe UI"/>
              </a:rPr>
              <a:t>• Enterprise identity, tenancy and data protection (see the enterprise-readiness deck)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REPRODUCE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Everything in this deck is one command 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39"/>
            <a:ext cx="53035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63039"/>
            <a:ext cx="530352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600199"/>
            <a:ext cx="49377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Generate the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29967"/>
            <a:ext cx="4937759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python demo-deck/process-twin/generate_data.py: deterministic suppliers, POs, ledger, invoices and 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39"/>
            <a:ext cx="53035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463039"/>
            <a:ext cx="530352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00199"/>
            <a:ext cx="49377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Seed and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7"/>
            <a:ext cx="4937759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.\start.ps1 -Demo -ResetDemo -SeedProcessTwin: policy, process, blueprint, agents, world, both twin runs.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94759"/>
            <a:ext cx="53035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794759"/>
            <a:ext cx="530352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3931920"/>
            <a:ext cx="49377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Open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361688"/>
            <a:ext cx="4937759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Process 'Invoice to Pay' -&gt; Process twin: operating model, runs, report.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94759"/>
            <a:ext cx="53035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794759"/>
            <a:ext cx="530352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3931920"/>
            <a:ext cx="49377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Rebuild the deck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61688"/>
            <a:ext cx="4937759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capture.mjs for screenshots, then build_process_twin_deck.py.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2885</Words>
  <Application>Microsoft Office PowerPoint</Application>
  <PresentationFormat>Widescreen</PresentationFormat>
  <Paragraphs>592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Jayendu Kumar</cp:lastModifiedBy>
  <cp:revision>2</cp:revision>
  <dcterms:created xsi:type="dcterms:W3CDTF">2013-01-27T09:14:16Z</dcterms:created>
  <dcterms:modified xsi:type="dcterms:W3CDTF">2026-10-14T03:29:14Z</dcterms:modified>
  <cp:category/>
</cp:coreProperties>
</file>