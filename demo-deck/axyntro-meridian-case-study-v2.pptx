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what the bank already has</a:t>
            </a:r>
          </a:p>
          <a:p/>
          <a:p>
            <a:r>
              <a:t>- The team creates the Customer Onboarding process and uploads its process documentation: PDF, Word, Visio or images.</a:t>
            </a:r>
          </a:p>
          <a:p>
            <a:r>
              <a:t>- Axyntro guides the rest: draft the diagram, review and finalize it, then assess it for AI agents.</a:t>
            </a:r>
          </a:p>
          <a:p>
            <a:r>
              <a:t>- For this study, Meridian's onboarding diagram was loaded directly.</a:t>
            </a:r>
          </a:p>
          <a:p/>
          <a:p>
            <a:r>
              <a:t>Why it matters: No blank page: discovery starts from material the bank already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picture of how the work is done</a:t>
            </a:r>
          </a:p>
          <a:p/>
          <a:p>
            <a:r>
              <a:t>- The process as a diagram: 4 roles, 7 tasks and 3 decision points.</a:t>
            </a:r>
          </a:p>
          <a:p>
            <a:r>
              <a:t>- A diagram assistant answers questions and makes changes described in plain English.</a:t>
            </a:r>
          </a:p>
          <a:p>
            <a:r>
              <a:t>- Once everyone agrees, the team finalizes it as the baseline to automate from.</a:t>
            </a:r>
          </a:p>
          <a:p/>
          <a:p>
            <a:r>
              <a:t>Why it matters: Business and IT agree on the same picture before anything is automated.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Axyntro assesses every step</a:t>
            </a:r>
          </a:p>
          <a:p/>
          <a:p>
            <a:r>
              <a:t>- 14 steps assessed: 6 automatable, 6 partially automatable, 2 that should stay with people.</a:t>
            </a:r>
          </a:p>
          <a:p>
            <a:r>
              <a:t>- 12 AI agents proposed to take on that work.</a:t>
            </a:r>
          </a:p>
          <a:p>
            <a:r>
              <a:t>- Colors on the diagram show the verdict for each step.</a:t>
            </a:r>
          </a:p>
          <a:p/>
          <a:p>
            <a:r>
              <a:t>Why it matters: A first view of where AI fits, in minutes, ready for the team to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team validates the proposed agents</a:t>
            </a:r>
          </a:p>
          <a:p/>
          <a:p>
            <a:r>
              <a:t>- Each agent card says what it would do and which step it covers.</a:t>
            </a:r>
          </a:p>
          <a:p>
            <a:r>
              <a:t>- The team reviews each one, and can approve, regenerate or override it.</a:t>
            </a:r>
          </a:p>
          <a:p>
            <a:r>
              <a:t>- This study follows one: the CreditAssessmentAgent, which recommends a new customer's credit limit.</a:t>
            </a:r>
          </a:p>
          <a:p/>
          <a:p>
            <a:r>
              <a:t>Why it matters: People stay in charge: nothing proceeds until the team agrees.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verdict comes with its reasons</a:t>
            </a:r>
          </a:p>
          <a:p/>
          <a:p>
            <a:r>
              <a:t>- Setting a credit limit is only partially automatable.</a:t>
            </a:r>
          </a:p>
          <a:p>
            <a:r>
              <a:t>- Why: it significantly affects the customer (GDPR Article 22), and limits above EUR 50,000 need the Chief Risk Officer.</a:t>
            </a:r>
          </a:p>
          <a:p>
            <a:r>
              <a:t>- So the agent recommends, and a person reviews before it acts.</a:t>
            </a:r>
          </a:p>
          <a:p/>
          <a:p>
            <a:r>
              <a:t>Why it matters: Recommendations are explained, not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Axyntro reads the bank's policies</a:t>
            </a:r>
          </a:p>
          <a:p/>
          <a:p>
            <a:r>
              <a:t>- Meridian's onboarding policy (ONB-01) was uploaded.</a:t>
            </a:r>
          </a:p>
          <a:p>
            <a:r>
              <a:t>- AI extracted 8 rules from it, and a person confirmed each one before it was used.</a:t>
            </a:r>
          </a:p>
          <a:p>
            <a:r>
              <a:t>- Ready-made rule packs added the essentials of GDPR and anti-money-laundering rules.</a:t>
            </a:r>
          </a:p>
          <a:p/>
          <a:p>
            <a:r>
              <a:t>Why it matters: Agents follow the bank's actual rules, not generic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is allowed to approve what</a:t>
            </a:r>
          </a:p>
          <a:p/>
          <a:p>
            <a:r>
              <a:t>- Approval limits become facts the agents must respect.</a:t>
            </a:r>
          </a:p>
          <a:p>
            <a:r>
              <a:t>- Head of Operations: credit limits up to EUR 50,000.</a:t>
            </a:r>
          </a:p>
          <a:p>
            <a:r>
              <a:t>- Chief Risk Officer: up to EUR 500,000.</a:t>
            </a:r>
          </a:p>
          <a:p/>
          <a:p>
            <a:r>
              <a:t>Why it matters: The same limits later decide what a correct answer looks like in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exactly which rules apply</a:t>
            </a:r>
          </a:p>
          <a:p/>
          <a:p>
            <a:r>
              <a:t>- Ask: what applies to Retail Banking in Germany?</a:t>
            </a:r>
          </a:p>
          <a:p>
            <a:r>
              <a:t>- Answer: 2 regulations, 19 obligations and 11 controls.</a:t>
            </a:r>
          </a:p>
          <a:p>
            <a:r>
              <a:t>- Germany automatically inherits every rule that applies across the EU.</a:t>
            </a:r>
          </a:p>
          <a:p/>
          <a:p>
            <a:r>
              <a:t>Why it matters: Compliance can see the rule set behind each process at a glance.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recommendation shows its sources</a:t>
            </a:r>
          </a:p>
          <a:p/>
          <a:p>
            <a:r>
              <a:t>- 47 rules and facts, plus 5 passages from policies, went into the assessment.</a:t>
            </a:r>
          </a:p>
          <a:p>
            <a:r>
              <a:t>- Each is numbered, so a reviewer can trace any recommendation back to its source.</a:t>
            </a:r>
          </a:p>
          <a:p/>
          <a:p>
            <a:r>
              <a:t>Why it matters: An audit trail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systems the agents will work with</a:t>
            </a:r>
          </a:p>
          <a:p/>
          <a:p>
            <a:r>
              <a:t>- 5 systems loaded from the bank's IT inventory: Core Banking, Credit Decisioning, Sanctions Screening, Identity Verification and Customer Notifications.</a:t>
            </a:r>
          </a:p>
          <a:p>
            <a:r>
              <a:t>- Technical specifications are attached for two of them.</a:t>
            </a:r>
          </a:p>
          <a:p>
            <a:r>
              <a:t>- Each agent's tools are linked to the real system they stand for.</a:t>
            </a:r>
          </a:p>
          <a:p/>
          <a:p>
            <a:r>
              <a:t>Why it matters: IT sees exactly which systems each agent would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data is sensitive, and who holds it</a:t>
            </a:r>
          </a:p>
          <a:p/>
          <a:p>
            <a:r>
              <a:t>- Customer data is marked Confidential-PII; sanctions results are Restricted. All of it is kept in the EU.</a:t>
            </a:r>
          </a:p>
          <a:p>
            <a:r>
              <a:t>- A register shows which vendors hold which data, and which agents depend on them.</a:t>
            </a:r>
          </a:p>
          <a:p/>
          <a:p>
            <a:r>
              <a:t>Why it matters: Security and data protection see the exposure before anything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before it goes live</a:t>
            </a:r>
          </a:p>
          <a:p/>
          <a:p>
            <a:r>
              <a:t>- A guided, five-step test builder, written for business users.</a:t>
            </a:r>
          </a:p>
          <a:p>
            <a:r>
              <a:t>- Tests run in a digital twin: a simulated copy of the process.</a:t>
            </a:r>
          </a:p>
          <a:p>
            <a:r>
              <a:t>- No real system is called and no real person is contacted.</a:t>
            </a:r>
          </a:p>
          <a:p/>
          <a:p>
            <a:r>
              <a:t>Why it matters: Mistakes are found in a rehearsal, not with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agent work, step by step</a:t>
            </a:r>
          </a:p>
          <a:p/>
          <a:p>
            <a:r>
              <a:t>- A replay of one test run of the credit agent.</a:t>
            </a:r>
          </a:p>
          <a:p>
            <a:r>
              <a:t>- It looks the customer up in Core Banking, gets a credit score from the Credit Decisioning Engine...</a:t>
            </a:r>
          </a:p>
          <a:p>
            <a:r>
              <a:t>- ...then asks a person to review before acting, as the bank's rules require.</a:t>
            </a:r>
          </a:p>
          <a:p/>
          <a:p>
            <a:r>
              <a:t>Why it matters: Anyone can see what the agent did, and in what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rule gets its own test</a:t>
            </a:r>
          </a:p>
          <a:p/>
          <a:p>
            <a:r>
              <a:t>- Axyntro created one test for each rule the agent must obey: human review of significant decisions, and senior approval for politically exposed persons.</a:t>
            </a:r>
          </a:p>
          <a:p>
            <a:r>
              <a:t>- Finding: the agent correctly asked for a person's review...</a:t>
            </a:r>
          </a:p>
          <a:p>
            <a:r>
              <a:t>- ...but did not record the reason for its decision, which the policy requires.</a:t>
            </a:r>
          </a:p>
          <a:p/>
          <a:p>
            <a:r>
              <a:t>Why it matters: A compliance gap found in simulation, not by an auditor.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down what 'correct' means</a:t>
            </a:r>
          </a:p>
          <a:p/>
          <a:p>
            <a:r>
              <a:t>- The process's decision points become rules anyone can read:</a:t>
            </a:r>
          </a:p>
          <a:p>
            <a:r>
              <a:t>- identity not verified: reject · possible sanctions match: escalate · limit above EUR 50,000: escalate · otherwise: approve.</a:t>
            </a:r>
          </a:p>
          <a:p>
            <a:r>
              <a:t>- AI drafted the rules; a person corrected and confirmed them.</a:t>
            </a:r>
          </a:p>
          <a:p/>
          <a:p>
            <a:r>
              <a:t>Why it matters: The agent is judged against the bank's own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93 test cases with known right answers</a:t>
            </a:r>
          </a:p>
          <a:p/>
          <a:p>
            <a:r>
              <a:t>- 10 written by experts, 5 of which must never fail.</a:t>
            </a:r>
          </a:p>
          <a:p>
            <a:r>
              <a:t>- 40 past decisions from 2025, with names, emails and account numbers replaced.</a:t>
            </a:r>
          </a:p>
          <a:p>
            <a:r>
              <a:t>- 33 generated by AI and checked against the rules, plus 10 copies of expert cases with the name in capitals. 9 kept aside for an unbiased final check.</a:t>
            </a:r>
          </a:p>
          <a:p/>
          <a:p>
            <a:r>
              <a:t>Why it matters: A realistic, privacy-safe answer key, built in minutes rather than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caught past mistakes</a:t>
            </a:r>
          </a:p>
          <a:p/>
          <a:p>
            <a:r>
              <a:t>- 3 past applications above EUR 50,000 were approved without escalation, against policy.</a:t>
            </a:r>
          </a:p>
          <a:p>
            <a:r>
              <a:t>- Either the records are wrong, or day-to-day practice differs from the written policy.</a:t>
            </a:r>
          </a:p>
          <a:p>
            <a:r>
              <a:t>- (These three were planted in the demo data to show the check.)</a:t>
            </a:r>
          </a:p>
          <a:p/>
          <a:p>
            <a:r>
              <a:t>Why it matters: Discovery also surfaces where today's process doesn't follow its own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every case through the agent</a:t>
            </a:r>
          </a:p>
          <a:p/>
          <a:p>
            <a:r>
              <a:t>- A full test batch: 92 runs, for about $0.08 in AI cost.</a:t>
            </a:r>
          </a:p>
          <a:p>
            <a:r>
              <a:t>- The cost and time are estimated before anything runs, with a spending cap.</a:t>
            </a:r>
          </a:p>
          <a:p>
            <a:r>
              <a:t>- A load test checks the agent with 8 cases running at once. A nightly re-test can be scheduled.</a:t>
            </a:r>
          </a:p>
          <a:p/>
          <a:p>
            <a:r>
              <a:t>Why it matters: Evidence at volume, for the price of a coffee.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 is right about half the time</a:t>
            </a:r>
          </a:p>
          <a:p/>
          <a:p>
            <a:r>
              <a:t>- 53% correct, and Axyntro is honest about the uncertainty: between 43% and 63%.</a:t>
            </a:r>
          </a:p>
          <a:p>
            <a:r>
              <a:t>- It is weakest on edge cases (20%)...</a:t>
            </a:r>
          </a:p>
          <a:p>
            <a:r>
              <a:t>- ...and changes its answer when only the capitalization of a name changes (30% consistent).</a:t>
            </a:r>
          </a:p>
          <a:p/>
          <a:p>
            <a:r>
              <a:t>Why it matters: Results come with a confidence range, not a single flattering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where it goes wrong</a:t>
            </a:r>
          </a:p>
          <a:p/>
          <a:p>
            <a:r>
              <a:t>- 18 cases that should have gone to a person were approved by the agent.</a:t>
            </a:r>
          </a:p>
          <a:p>
            <a:r>
              <a:t>- 13 cases that should have been rejected were approved.</a:t>
            </a:r>
          </a:p>
          <a:p>
            <a:r>
              <a:t>- Each failure links to the cases behind it, so the fix can be targeted.</a:t>
            </a:r>
          </a:p>
          <a:p/>
          <a:p>
            <a:r>
              <a:t>Why it matters: The team knows what to fix, not just that something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release gate says: not ready</a:t>
            </a:r>
          </a:p>
          <a:p/>
          <a:p>
            <a:r>
              <a:t>- Leadership set the bar: at least 85% correct even at the low end of the range, every customer group at 70% or more, and every must-pass case passing.</a:t>
            </a:r>
          </a:p>
          <a:p>
            <a:r>
              <a:t>- Result: NOT READY. 4 must-pass cases failed and the pass rate could be as low as 43%.</a:t>
            </a:r>
          </a:p>
          <a:p>
            <a:r>
              <a:t>- The second version of the agent was no better: it fixed 17 cases and broke 13.</a:t>
            </a:r>
          </a:p>
          <a:p/>
          <a:p>
            <a:r>
              <a:t>Why it matters: A clear, defensible no-go, with the reasons written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business owns its own rules</a:t>
            </a:r>
          </a:p>
          <a:p/>
          <a:p>
            <a:r>
              <a:t>- A Wealth Management analyst sees and maintains only Wealth Management's rules, plus group-wide ones.</a:t>
            </a:r>
          </a:p>
          <a:p>
            <a:r>
              <a:t>- Wealth Management's AI calls stay in the EU, with personal data removed first.</a:t>
            </a:r>
          </a:p>
          <a:p/>
          <a:p>
            <a:r>
              <a:t>Why it matters: Scales across business units without losing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Stays current automatically</a:t>
            </a:r>
          </a:p>
          <a:p/>
          <a:p>
            <a:r>
              <a:t>- Connectors keep the policy library (SharePoint) and the IT inventory (ServiceNow) in sync on a schedule.</a:t>
            </a:r>
          </a:p>
          <a:p>
            <a:r>
              <a:t>- Passwords and tokens are never stored in Axyntro.</a:t>
            </a:r>
          </a:p>
          <a:p/>
          <a:p>
            <a:r>
              <a:t>Why it matters: When a policy changes, the new version arrives for review, and scheduled re-tests can run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A CASE STUDY WITH AXYNTRO</a:t>
            </a:r>
          </a:p>
          <a:p>
            <a:pPr algn="l"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Can AI agents help Meridian onboard customers?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FE7FF"/>
                </a:solidFill>
                <a:latin typeface="Segoe UI"/>
              </a:rPr>
              <a:t>Process discovery and safe AI adoption for retail customer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Meet Meridian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3B4A75"/>
                </a:solidFill>
                <a:latin typeface="Segoe UI"/>
              </a:rPr>
              <a:t>A mid-size European bank serving retail and wealth customers.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41448"/>
            <a:ext cx="5212080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41448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70048"/>
            <a:ext cx="466344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Two businesses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Retail Banking (accounts, cards, personal lending) and Wealth Management (private banking).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41448"/>
            <a:ext cx="5212080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441448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670048"/>
            <a:ext cx="466344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Seven markets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Germany, France, the Netherlands, Spain, Italy and Ireland, plus EU-wide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98264"/>
            <a:ext cx="5212080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98264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26864"/>
            <a:ext cx="466344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Heavily regulated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EU data protection (GDPR) and anti-money-laundering rules apply to every customer it takes 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98264"/>
            <a:ext cx="5212080" cy="1682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398264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626864"/>
            <a:ext cx="466344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Its own policies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A Customer Onboarding Policy (ONB-01) sets out how new customers are checked and approved.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D6A90"/>
                </a:solidFill>
                <a:latin typeface="Segoe UI"/>
              </a:rPr>
              <a:t>Meridian Group is fictional. All customers and data in this study are synthetic.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Which parts of onboarding could AI agents take on, safely?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3B4A75"/>
                </a:solidFill>
                <a:latin typeface="Segoe UI"/>
              </a:rPr>
              <a:t>Opening an account for a new retail customer takes several checks and approvals, each done by hand today. Meridian wants to know where AI agents could help without breaking any of its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36976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36976"/>
            <a:ext cx="33832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65576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Where can AI help?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Which steps of the process are suited to an AI agent, and which need a person?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236976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236976"/>
            <a:ext cx="33832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465576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Will it follow our rules?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Can an agent respect the bank's policies, approval limits and regulations?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236976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236976"/>
            <a:ext cx="33832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465576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How would we know?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What evidence would show the agents decide correctly, before any real customer is affected?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THE PROCESS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How a new retail customer is onboarded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508760" cy="123444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 w="15875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65960"/>
            <a:ext cx="13624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45C"/>
                </a:solidFill>
                <a:latin typeface="Segoe UI"/>
              </a:rPr>
              <a:t>Application received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Onboarding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965960"/>
            <a:ext cx="32918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F5BD3"/>
                </a:solidFill>
                <a:latin typeface="Segoe UI"/>
              </a:rPr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9464" y="1965960"/>
            <a:ext cx="15087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42616" y="1965960"/>
            <a:ext cx="13624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45C"/>
                </a:solidFill>
                <a:latin typeface="Segoe UI"/>
              </a:rPr>
              <a:t>Verify identity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Onboarding Officer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1965960"/>
            <a:ext cx="32918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F5BD3"/>
                </a:solidFill>
                <a:latin typeface="Segoe UI"/>
              </a:rP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65960"/>
            <a:ext cx="15087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13624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45C"/>
                </a:solidFill>
                <a:latin typeface="Segoe UI"/>
              </a:rPr>
              <a:t>Screen against EU sanctions list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Onboarding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1965960"/>
            <a:ext cx="32918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F5BD3"/>
                </a:solidFill>
                <a:latin typeface="Segoe UI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965960"/>
            <a:ext cx="1508760" cy="1234440"/>
          </a:xfrm>
          <a:prstGeom prst="roundRect">
            <a:avLst>
              <a:gd name="adj" fmla="val 12000"/>
            </a:avLst>
          </a:prstGeom>
          <a:solidFill>
            <a:srgbClr val="E6EDFF"/>
          </a:solidFill>
          <a:ln w="31750">
            <a:solidFill>
              <a:srgbClr val="2F5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965960"/>
            <a:ext cx="13624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45C"/>
                </a:solidFill>
                <a:latin typeface="Segoe UI"/>
              </a:rPr>
              <a:t>Assess and set credit limit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Credit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965960"/>
            <a:ext cx="32918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F5BD3"/>
                </a:solidFill>
                <a:latin typeface="Segoe UI"/>
              </a:rP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965960"/>
            <a:ext cx="15087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965960"/>
            <a:ext cx="13624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45C"/>
                </a:solidFill>
                <a:latin typeface="Segoe UI"/>
              </a:rPr>
              <a:t>Activate account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Onboarding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6" y="1965960"/>
            <a:ext cx="329184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F5BD3"/>
                </a:solidFill>
                <a:latin typeface="Segoe UI"/>
              </a:rP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965960"/>
            <a:ext cx="1508760" cy="1234440"/>
          </a:xfrm>
          <a:prstGeom prst="roundRect">
            <a:avLst>
              <a:gd name="adj" fmla="val 50000"/>
            </a:avLst>
          </a:prstGeom>
          <a:solidFill>
            <a:srgbClr val="EEF2FB"/>
          </a:solidFill>
          <a:ln w="15875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1965960"/>
            <a:ext cx="13624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245C"/>
                </a:solidFill>
                <a:latin typeface="Segoe UI"/>
              </a:rPr>
              <a:t>Customer onboarded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33832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64008" cy="1600200"/>
          </a:xfrm>
          <a:prstGeom prst="rect">
            <a:avLst/>
          </a:prstGeom>
          <a:solidFill>
            <a:srgbClr val="E59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40480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245C"/>
                </a:solidFill>
                <a:latin typeface="Segoe UI"/>
              </a:rPr>
              <a:t>Identity can't be verified?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B4A75"/>
                </a:solidFill>
                <a:latin typeface="Segoe UI"/>
              </a:rPr>
              <a:t>The application is rejected and the customer is told.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657600"/>
            <a:ext cx="33832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600200"/>
          </a:xfrm>
          <a:prstGeom prst="rect">
            <a:avLst/>
          </a:prstGeom>
          <a:solidFill>
            <a:srgbClr val="E59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840480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245C"/>
                </a:solidFill>
                <a:latin typeface="Segoe UI"/>
              </a:rPr>
              <a:t>Possible sanctions match?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B4A75"/>
                </a:solidFill>
                <a:latin typeface="Segoe UI"/>
              </a:rPr>
              <a:t>The Money Laundering Reporting Officer (MLRO) reviews it before anything else happens.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657600"/>
            <a:ext cx="33832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657600"/>
            <a:ext cx="64008" cy="1600200"/>
          </a:xfrm>
          <a:prstGeom prst="rect">
            <a:avLst/>
          </a:prstGeom>
          <a:solidFill>
            <a:srgbClr val="E59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840480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245C"/>
                </a:solidFill>
                <a:latin typeface="Segoe UI"/>
              </a:rPr>
              <a:t>Credit limit above EUR 50,000?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B4A75"/>
                </a:solidFill>
                <a:latin typeface="Segoe UI"/>
              </a:rPr>
              <a:t>The Chief Risk Officer must approve it. Up to EUR 50,000, the Head of Operations can.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D6A90"/>
                </a:solidFill>
                <a:latin typeface="Segoe UI"/>
              </a:rPr>
              <a:t>Four roles take part: Onboarding Officer, Credit Analyst, MLRO and Chief Risk Officer. The highlighted step is the focus of this study.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What this study sets out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1 · Discover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Map the onboarding process and find the steps AI agents could take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2 · Design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Define the agents, grounded in Meridian's own policies, limits and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3 · Prove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Test the agents safely and at volume, before they touch a real customer.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4 · Decide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Give leadership a clear, evidence-based go or no-go.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WHY AXYNTRO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Faster discovery, safer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212080" cy="4206240"/>
          </a:xfrm>
          <a:prstGeom prst="rect">
            <a:avLst/>
          </a:prstGeom>
          <a:solidFill>
            <a:srgbClr val="EC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4805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4A5370"/>
                </a:solidFill>
                <a:latin typeface="Segoe UI"/>
              </a:rPr>
              <a:t>The usual way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5370"/>
                </a:solidFill>
                <a:latin typeface="Segoe UI"/>
              </a:rPr>
              <a:t>•  Weeks of workshops to map how the process really works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5370"/>
                </a:solidFill>
                <a:latin typeface="Segoe UI"/>
              </a:rPr>
              <a:t>•  Experts read policy documents line by line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5370"/>
                </a:solidFill>
                <a:latin typeface="Segoe UI"/>
              </a:rPr>
              <a:t>•  Test cases written by hand, a few at a time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5370"/>
                </a:solidFill>
                <a:latin typeface="Segoe UI"/>
              </a:rPr>
              <a:t>•  Pilots run on real customers to see what happens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A5370"/>
                </a:solidFill>
                <a:latin typeface="Segoe UI"/>
              </a:rPr>
              <a:t>•  Go-live decided on confidence, not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20240"/>
            <a:ext cx="5212080" cy="420624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4805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With Axyntro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FE7FF"/>
                </a:solidFill>
                <a:latin typeface="Segoe UI"/>
              </a:rPr>
              <a:t>•  Process documents are uploaded and turned into a diagram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FE7FF"/>
                </a:solidFill>
                <a:latin typeface="Segoe UI"/>
              </a:rPr>
              <a:t>•  AI proposes the agents, step by step, and people validate them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FE7FF"/>
                </a:solidFill>
                <a:latin typeface="Segoe UI"/>
              </a:rPr>
              <a:t>•  Every recommendation cites the policy it relies on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FE7FF"/>
                </a:solidFill>
                <a:latin typeface="Segoe UI"/>
              </a:rPr>
              <a:t>•  Agents rehearse in a digital twin: a safe, simulated copy of the process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DFE7FF"/>
                </a:solidFill>
                <a:latin typeface="Segoe UI"/>
              </a:rPr>
              <a:t>•  Hundreds of test runs end in a go / no-go, with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THE JOURNEY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From a process document to a go / no-go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3088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088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Upload the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3088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088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0116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Validate the proposed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3088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088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0116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Ground them in the bank's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36804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804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3832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Connect the bank's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3832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36804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804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3832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Rehearse in a safe simulation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3832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36804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6804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3832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Build the answer 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50520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0520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7548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Test at volume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7548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3440" y="50520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50520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7548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Decide: go or no-go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7548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5052060"/>
            <a:ext cx="502920" cy="502920"/>
          </a:xfrm>
          <a:prstGeom prst="ellipse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50520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754880"/>
            <a:ext cx="2286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45C"/>
                </a:solidFill>
                <a:latin typeface="Segoe UI"/>
              </a:rPr>
              <a:t>Scale across the bank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D6A90"/>
                </a:solidFill>
                <a:latin typeface="Segoe UI"/>
              </a:rPr>
              <a:t>Each step is shown on the following slides with real screens from Axyntro.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1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Upload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1 · UPLOAD THE PROCESS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Start from what the bank already has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The team creates the Customer Onboarding process and uploads its process documentation: PDF, Word, Visio or images.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Axyntro guides the rest: draft the diagram, review and finalize it, then assess it for AI agents.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For this study, Meridian's onboarding diagram was loaded directly.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No blank page: discovery starts from material the bank already 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8348"/>
            <a:ext cx="8168425" cy="4721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1 · UPLOAD THE PROCESS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One picture of how the work is done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The process as a diagram: 4 roles, 7 tasks and 3 decision points.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diagram assistant answers questions and makes changes described in plain English.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Once everyone agrees, the team finalizes it as the baseline to automate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Business and IT agree on the same picture before anything is automated.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2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Validate the proposed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9990"/>
            <a:ext cx="8168426" cy="471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2 · VALIDATE THE PROPOSED AGENTS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Axyntro assesses every step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14 steps assessed: 6 automatable, 6 partially automatable, 2 that should stay with people.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12 AI agents proposed to take on that work.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Colors on the diagram show the verdict for each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 first view of where AI fits, in minutes, ready for the team to challenge.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9990"/>
            <a:ext cx="8168426" cy="471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2 · VALIDATE THE PROPOSED AGENTS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The team validates the proposed agents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Each agent card says what it would do and which step it covers.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The team reviews each one, and can approve, regenerate or override it.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This study follows one: the CreditAssessmentAgent, which recommends a new customer's credit limit.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People stay in charge: nothing proceeds until the team agrees.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9990"/>
            <a:ext cx="8168426" cy="471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2 · VALIDATE THE PROPOSED AGENTS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Every verdict comes with its reasons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Setting a credit limit is only partially automatable.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Why: it significantly affects the customer (GDPR Article 22), and limits above EUR 50,000 need the Chief Risk Officer.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So the agent recommends, and a person reviews before it 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Recommendations are explained, not a black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3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Ground them in the bank's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3 · GROUND THEM IN THE BANK'S RULES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Axyntro reads the bank's policies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Meridian's onboarding policy (ONB-01) was uploaded.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AI extracted 8 rules from it, and a person confirmed each one before it was used.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Ready-made rule packs added the essentials of GDPR and anti-money-laundering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Agents follow the bank's actual rules, not generic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3 · GROUND THEM IN THE BANK'S RULES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Who is allowed to approve what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Approval limits become facts the agents must respect.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Head of Operations: credit limits up to EUR 50,000.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Chief Risk Officer: up to EUR 500,000.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The same limits later decide what a correct answer looks like in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3 · GROUND THEM IN THE BANK'S RULES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Know exactly which rules apply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Ask: what applies to Retail Banking in Germany?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Answer: 2 regulations, 19 obligations and 11 controls.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Germany automatically inherits every rule that applies across the EU.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Compliance can see the rule set behind each process at a glance.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9990"/>
            <a:ext cx="8168426" cy="471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3 · GROUND THEM IN THE BANK'S RULES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Every recommendation shows its sources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47 rules and facts, plus 5 passages from policies, went into the assessment.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Each is numbered, so a reviewer can trace any recommendation back to its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An audit trail from day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4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Connect the bank's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4 · CONNECT THE BANK'S SYSTEMS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The systems the agents will work with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5 systems loaded from the bank's IT inventory: Core Banking, Credit Decisioning, Sanctions Screening, Identity Verification and Customer Notifications.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Technical specifications are attached for two of them.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Each agent's tools are linked to the real system they stand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IT sees exactly which systems each agent would touch.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4 · CONNECT THE BANK'S SYSTEMS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Which data is sensitive, and who holds it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Customer data is marked Confidential-PII; sanctions results are Restricted. All of it is kept in the EU.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register shows which vendors hold which data, and which agents depend on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Security and data protection see the exposure before anything is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5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Rehearse in a safe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9990"/>
            <a:ext cx="8168426" cy="471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5 · REHEARSE IN A SAFE SIMULATION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Test before it goes live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guided, five-step test builder, written for business users.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Tests run in a digital twin: a simulated copy of the process.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No real system is called and no real person is contacted.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Mistakes are found in a rehearsal, not with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00678"/>
            <a:ext cx="8168426" cy="5056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5 · REHEARSE IN A SAFE SIMULATION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Watch the agent work, step by step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replay of one test run of the credit agent.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It looks the customer up in Core Banking, gets a credit score from the Credit Decisioning Engine...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...then asks a person to review before acting, as the bank's rules require.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Anyone can see what the agent did, and in what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8" y="182880"/>
            <a:ext cx="7036750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5 · REHEARSE IN A SAFE SIMULATION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Every rule gets its own test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Axyntro created one test for each rule the agent must obey: human review of significant decisions, and senior approval for politically exposed persons.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Finding: the agent correctly asked for a person's review...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...but did not record the reason for its decision, which the policy requires.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 compliance gap found in simulation, not by an auditor.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6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Build the answer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6 · BUILD THE ANSWER KEY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Write down what 'correct' means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The process's decision points become rules anyone can read: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identity not verified: reject · possible sanctions match: escalate · limit above EUR 50,000: escalate · otherwise: approve.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AI drafted the rules; a person corrected and confirmed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The agent is judged against the bank's own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6 · BUILD THE ANSWER KEY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93 test cases with known right answers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10 written by experts, 5 of which must never fail.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40 past decisions from 2025, with names, emails and account numbers replaced.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33 generated by AI and checked against the rules, plus 10 copies of expert cases with the name in capitals. 9 kept aside for an unbiased final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 realistic, privacy-safe answer key, built in minutes rather than weeks.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6 · BUILD THE ANSWER KEY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The rules caught past mistakes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3 past applications above EUR 50,000 were approved without escalation, against policy.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Either the records are wrong, or day-to-day practice differs from the written policy.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(These three were planted in the demo data to show the check.)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Discovery also surfaces where today's process doesn't follow its own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7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Test at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7 · TEST AT VOLUME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Run every case through the agent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full test batch: 92 runs, for about $0.08 in AI cost.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The cost and time are estimated before anything runs, with a spending cap.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load test checks the agent with 8 cases running at once. A nightly re-test can be scheduled.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Evidence at volume, for the price of a coffee.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7 · TEST AT VOLUME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The agent is right about half the time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53% correct, and Axyntro is honest about the uncertainty: between 43% and 63%.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It is weakest on edge cases (20%)...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...and changes its answer when only the capitalization of a name changes (30% consistent).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Results come with a confidence range, not a single flattering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7 · TEST AT VOLUME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Exactly where it goes wrong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18 cases that should have gone to a person were approved by the agent.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13 cases that should have been rejected were approved.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Each failure links to the cases behind it, so the fix can be targeted.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The team knows what to fix, not just that something is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8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Decide: go or no-go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82880"/>
            <a:ext cx="7892373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8 · DECIDE: GO OR NO-GO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The release gate says: not ready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Leadership set the bar: at least 85% correct even at the low end of the range, every customer group at 70% or more, and every must-pass case passing.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Result: NOT READY. 4 must-pass cases failed and the pass rate could be as low as 43%.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The second version of the agent was no better: it fixed 17 cases and broke 13.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 clear, defensible no-go, with the reasons written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STEP 9 OF 9</a:t>
            </a:r>
          </a:p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Scale across the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9 · SCALE ACROSS THE BANK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Each business owns its own rules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A Wealth Management analyst sees and maintains only Wealth Management's rules, plus group-wide ones.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Wealth Management's AI calls stay in the EU, with personal data removed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Scales across business units without losing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6" y="0"/>
            <a:ext cx="3657509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" y="182880"/>
            <a:ext cx="7884551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4226" y="457200"/>
            <a:ext cx="301742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8FB3FF"/>
                </a:solidFill>
                <a:latin typeface="Segoe UI"/>
              </a:rPr>
              <a:t>STEP 9 · SCALE ACROSS THE BANK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Stays current automatically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Connectors keep the policy library (SharePoint) and the IT inventory (ServiceNow) in sync on a schedule.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DFE7FF"/>
                </a:solidFill>
                <a:latin typeface="Segoe UI"/>
              </a:rPr>
              <a:t>•  Passwords and tokens are never stored in Axyntro.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226" y="4892040"/>
            <a:ext cx="3017429" cy="1325880"/>
          </a:xfrm>
          <a:prstGeom prst="rect">
            <a:avLst/>
          </a:prstGeom>
          <a:solidFill>
            <a:srgbClr val="2A3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4226" y="4892040"/>
            <a:ext cx="54864" cy="1325880"/>
          </a:xfrm>
          <a:prstGeom prst="rect">
            <a:avLst/>
          </a:prstGeom>
          <a:solidFill>
            <a:srgbClr val="8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7106" y="4983480"/>
            <a:ext cx="2743109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8FB3FF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When a policy changes, the new version arrives for review, and scheduled re-tests can run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What Meridian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Discovery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14 steps mapped and 12 agents proposed. 86% of the process could be fully or partly handled by AI agents.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Grounding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8 rules extracted from the bank's own policy and confirmed. Every recommendation cites its sources.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Proof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The credit agent is not ready yet: 53% correct against an 85% bar. The gate stopped it before any customer was affected.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Bonus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Testing also found a compliance gap (reasons not recorded) and 3 past decisions that broke policy.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What Axyntro brings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Speed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The whole study, from the process diagram to the go / no-go, ran end to end in under an hour, for about $0.20 of AI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Safety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Every test ran in a simulation. No real customer, system or person was touched.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Evidence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Every recommendation is cited, and every result comes with an honest confidence range.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Control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People confirm the rules, validate the agents and set the bar. The gate enforces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F5BD3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245C"/>
                </a:solidFill>
                <a:latin typeface="Segoe UI"/>
              </a:rPr>
              <a:t>From here to a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1 · Fix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Make the agent send every limit above EUR 50,000 to a person, and record the reason for each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2 · Re-test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Run the same 93 cases again. Axyntro shows whether the new version is really better.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3 · Pilot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When the gate passes, start with Retail Banking in Germany, with a person reviewing every decision.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83380"/>
            <a:ext cx="521208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83380"/>
            <a:ext cx="5212080" cy="64008"/>
          </a:xfrm>
          <a:prstGeom prst="rect">
            <a:avLst/>
          </a:prstGeom>
          <a:solidFill>
            <a:srgbClr val="2F5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11980"/>
            <a:ext cx="4663440" cy="157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6245C"/>
                </a:solidFill>
                <a:latin typeface="Segoe UI"/>
              </a:rPr>
              <a:t>4 · Extend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B4A75"/>
                </a:solidFill>
                <a:latin typeface="Segoe UI"/>
              </a:rPr>
              <a:t>Repeat the same journey for the other agents and processes.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D6A90"/>
                </a:solidFill>
                <a:latin typeface="Segoe UI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45C"/>
              </a:gs>
              <a:gs pos="100000">
                <a:srgbClr val="0D1530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78408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8FB3FF"/>
                </a:solidFill>
                <a:latin typeface="Segoe UI"/>
              </a:rPr>
              <a:t>THANK YOU</a:t>
            </a:r>
          </a:p>
          <a:p>
            <a:pPr algn="l"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From process to production, with evidence at every step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FE7FF"/>
                </a:solidFill>
                <a:latin typeface="Segoe UI"/>
              </a:rPr>
              <a:t>Axyntro · process discovery and safe AI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FB3FF"/>
                </a:solidFill>
                <a:latin typeface="Segoe UI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