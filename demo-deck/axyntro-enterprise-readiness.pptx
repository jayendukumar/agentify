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8FB3FF"/>
                </a:solidFill>
                <a:latin typeface="Segoe UI"/>
              </a:rPr>
              <a:t>AXYNTRO · ENTERPRISE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What it will take to make Axyntro enterprise 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DFE7FF"/>
                </a:solidFill>
                <a:latin typeface="Segoe UI"/>
              </a:rPr>
              <a:t>An honest assessment of the build after 36 epics, the gaps that matter to an enterprise buyer, and a 12-month plan to close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A broad product, built fast and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Built in about four weeks. Measured with tools/code_health on 2026-10-13.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3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0019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EPICS / STORIES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218313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6245C"/>
                </a:solidFill>
                <a:latin typeface="Segoe UI"/>
              </a:rPr>
              <a:t>36 / 243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0603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from document ingestion to a whole-process digital twin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7570" y="146303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0450" y="160019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PRODUCTION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450" y="1874519"/>
            <a:ext cx="218313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6245C"/>
                </a:solidFill>
                <a:latin typeface="Segoe UI"/>
              </a:rPr>
              <a:t>35k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260603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21k Python, 14k TypeScript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146303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7940" y="160019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AUTOMATED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7940" y="1874519"/>
            <a:ext cx="218313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6245C"/>
                </a:solidFill>
                <a:latin typeface="Segoe UI"/>
              </a:rPr>
              <a:t>~600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260603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8.5k lines backend, 2.9k frontend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2550" y="146303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55430" y="160019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5430" y="1874519"/>
            <a:ext cx="218313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6245C"/>
                </a:solidFill>
                <a:latin typeface="Segoe UI"/>
              </a:rPr>
              <a:t>177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5430" y="260603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49 database tables, 15 model call sites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STRENGTHS TO KEEP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What is already enterprise-strength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These are design choices a buyer's architects will like: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79"/>
            <a:ext cx="3444240" cy="1760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24027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37743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Evidence, not opinion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07208"/>
            <a:ext cx="3078480" cy="1120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Twin runs are graded on traces and labelled outcomes. Pass rates carry confidence ranges, and versions are compared with paired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640" y="2240279"/>
            <a:ext cx="3444240" cy="1760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58640" y="224027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1520" y="237743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Reproducible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520" y="2807208"/>
            <a:ext cx="3078480" cy="1120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Every run snapshots the agent, environment, dataset, model and policy versions. Batch cases are seeded and replayable.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2240279"/>
            <a:ext cx="3444240" cy="1760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77200" y="224027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0080" y="237743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Governed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807208"/>
            <a:ext cx="3078480" cy="1120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Permissions, tool contracts, guardrails, escalation and model policy are part of the agent definition, and the twin's tool gateway enforces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29100"/>
            <a:ext cx="3444240" cy="1760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229100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4366260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Context-aware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796028"/>
            <a:ext cx="3078480" cy="1120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The organization's policies, roles and approval limits ground every blueprint and agent, with citations.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8640" y="4229100"/>
            <a:ext cx="3444240" cy="1760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58640" y="4229100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1520" y="4366260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Safe by default in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1520" y="4796028"/>
            <a:ext cx="3078480" cy="1120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API mode only calls non-production endpoints. Sample-data systems need no live systems at all.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7200" y="4229100"/>
            <a:ext cx="3444240" cy="1760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77200" y="4229100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60080" y="4366260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Whole-process 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0080" y="4796028"/>
            <a:ext cx="3078480" cy="1120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The process twin runs every agent over many cases and prices the result against today's operating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THE 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What an enterprise buyer will ask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Eight areas, roughly in the order a security review and a pilot will probe them: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79"/>
            <a:ext cx="3444240" cy="1760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24027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37743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Identity and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07208"/>
            <a:ext cx="3078480" cy="1120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SSO, MFA, SCIM, fine-grained roles, segregation of duties between who builds, tests and approves an agent.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640" y="2240279"/>
            <a:ext cx="3444240" cy="1760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58640" y="224027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1520" y="237743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Tenancy and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520" y="2807208"/>
            <a:ext cx="3078480" cy="1120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Hard isolation between customers and units, encryption with customer-managed keys, residency, retention.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2240279"/>
            <a:ext cx="3444240" cy="1760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77200" y="224027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0080" y="237743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Security and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807208"/>
            <a:ext cx="3078480" cy="1120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SOC 2 Type II, ISO 27001, GDPR, EU AI Act evidence; in banking also DORA and outsourcing 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29100"/>
            <a:ext cx="3444240" cy="1760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229100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4366260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Reliability and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796028"/>
            <a:ext cx="3078480" cy="1120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SLA, DR, horizontal scale, thousands of concurrent twin cases, predictable cost.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8640" y="4229100"/>
            <a:ext cx="3444240" cy="1760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58640" y="4229100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1520" y="4366260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Operability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1520" y="4796028"/>
            <a:ext cx="3078480" cy="1120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Metrics, tracing, alerting, audit logs, admin consoles, zero-downtime deploys.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7200" y="4229100"/>
            <a:ext cx="3444240" cy="1760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77200" y="4229100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60080" y="4366260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Production agent 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0080" y="4796028"/>
            <a:ext cx="3078480" cy="1120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Agents that actually run, with identity, kill switch, monitoring and drift checks against the twin.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GAP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Today vs the enterprise bar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630957"/>
              </p:ext>
            </p:extLst>
          </p:nvPr>
        </p:nvGraphicFramePr>
        <p:xfrm>
          <a:off x="640080" y="1463039"/>
          <a:ext cx="108813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Today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Enterprise bar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3B4A75"/>
                          </a:solidFill>
                        </a:rPr>
                        <a:t>Authentication  [Critical]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Name and a self-chosen role at login; no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OIDC/SAML SSO, MFA, SCIM, session policies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3B4A75"/>
                          </a:solidFill>
                        </a:rPr>
                        <a:t>Tenancy  [Critical]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One organization per deployment, no tenant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Tenant id everywhere, row-level security, per-tenant keys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Agent runtime  [Critical]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Agents run only in the twin; 'deployed' = registry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Production executor with identity, guardrails, kill switch,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Secrets and data at rest  [Critical]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backend/.env; files on the container disk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Secrets manager, object storage with KMS, CMK,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Model access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3B4A75"/>
                          </a:solidFill>
                        </a:rPr>
                        <a:t>One provider by default (</a:t>
                      </a:r>
                      <a:r>
                        <a:rPr sz="1200" dirty="0" err="1">
                          <a:solidFill>
                            <a:srgbClr val="3B4A75"/>
                          </a:solidFill>
                        </a:rPr>
                        <a:t>OpenRouter</a:t>
                      </a:r>
                      <a:r>
                        <a:rPr sz="1200" dirty="0">
                          <a:solidFill>
                            <a:srgbClr val="3B4A75"/>
                          </a:solidFill>
                        </a:rPr>
                        <a:t>); regex PII redaction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LLM gateway, 2+ providers with failover, DLP-grade redaction, default-deny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Background work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Worker inside the API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Separate autoscaled worker pool, fair-share per tenant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Run storage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3B4A75"/>
                          </a:solidFill>
                        </a:rPr>
                        <a:t>Step trace rewritten on every step (O(n²))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Append-only step store, summaries maintained on 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Observability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3B4A75"/>
                          </a:solidFill>
                        </a:rPr>
                        <a:t>Log files and UI polling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OpenTelemetry metrics/traces, alerts, cost dashboards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Delivery  [High]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docker compose; no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CI/CD with quality gates, IaC, blue/green, DR drills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Code 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B4A75"/>
                          </a:solidFill>
                        </a:rPr>
                        <a:t>122 over-complex functions; 2,000-line repository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3B4A75"/>
                          </a:solidFill>
                        </a:rPr>
                        <a:t>Ratchet enforced in CI; hot core refactored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8FB3FF"/>
                </a:solidFill>
                <a:latin typeface="Segoe UI"/>
              </a:rPr>
              <a:t>THE CRITICAL FOUR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Four gaps block any enterprise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DFE7FF"/>
                </a:solidFill>
                <a:latin typeface="Segoe UI"/>
              </a:rPr>
              <a:t>Identity, tenancy, a production runtime, and data protection. Everything else can follow a pilot.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1 ·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From 'type your name' to real identity and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Effort: about 6-8 engineer-weeks, including the role model and UI gating.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39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EC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1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6245C"/>
                </a:solidFill>
                <a:latin typeface="Segoe UI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3B4A75"/>
                </a:solidFill>
                <a:latin typeface="Segoe UI"/>
              </a:rPr>
              <a:t>• Login takes a name and a role the user picks: anyone who reaches the API can be an Editor</a:t>
            </a:r>
          </a:p>
          <a:p>
            <a:r>
              <a:rPr sz="1300" b="0">
                <a:solidFill>
                  <a:srgbClr val="3B4A75"/>
                </a:solidFill>
                <a:latin typeface="Segoe UI"/>
              </a:rPr>
              <a:t>• Two roles: viewer and editor</a:t>
            </a:r>
          </a:p>
          <a:p>
            <a:r>
              <a:rPr sz="1300" b="0">
                <a:solidFill>
                  <a:srgbClr val="3B4A75"/>
                </a:solidFill>
                <a:latin typeface="Segoe UI"/>
              </a:rPr>
              <a:t>• 30-day cookie sessions; no revocation beyond logout</a:t>
            </a:r>
          </a:p>
          <a:p>
            <a:r>
              <a:rPr sz="1300" b="0">
                <a:solidFill>
                  <a:srgbClr val="3B4A75"/>
                </a:solidFill>
                <a:latin typeface="Segoe UI"/>
              </a:rPr>
              <a:t>• No link to the customer's directory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39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16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4591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Enterprise 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DFE7FF"/>
                </a:solidFill>
                <a:latin typeface="Segoe UI"/>
              </a:rPr>
              <a:t>• OIDC/SAML SSO with the customer's IdP; MFA enforced there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SCIM provisioning; groups mapped to roles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Roles that match the work: analyst, architect, process owner, approver, auditor, admin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Segregation of duties: whoever builds an agent can't approve its release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Short sessions, refresh tokens, admin revocation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2 · TENANCY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From one organization to many, isolated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Effort: about 8-10 engineer-weeks. Touches all 49 tables and every repository query, so do it before more features land.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39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EC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1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6245C"/>
                </a:solidFill>
                <a:latin typeface="Segoe UI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3B4A75"/>
                </a:solidFill>
                <a:latin typeface="Segoe UI"/>
              </a:rPr>
              <a:t>• The organization is a singleton; no table carries a tenant id</a:t>
            </a:r>
          </a:p>
          <a:p>
            <a:r>
              <a:rPr sz="1300" b="0">
                <a:solidFill>
                  <a:srgbClr val="3B4A75"/>
                </a:solidFill>
                <a:latin typeface="Segoe UI"/>
              </a:rPr>
              <a:t>• A second customer means a second deployment</a:t>
            </a:r>
          </a:p>
          <a:p>
            <a:r>
              <a:rPr sz="1300" b="0">
                <a:solidFill>
                  <a:srgbClr val="3B4A75"/>
                </a:solidFill>
                <a:latin typeface="Segoe UI"/>
              </a:rPr>
              <a:t>• Business-unit stewardship exists, but only within one organization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39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16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4591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Enterprise 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DFE7FF"/>
                </a:solidFill>
                <a:latin typeface="Segoe UI"/>
              </a:rPr>
              <a:t>• tenant_id on every row, enforced by Postgres row-level security, not just by queries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Per-tenant encryption keys, model policy, budgets and rate limits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Optional dedicated deployments (single-tenant, in-region) from the same build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Tenant-scoped exports and deletion, for GDPR and contract exit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3 · PRODUCTION AGENT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From proven in the twin to running for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Effort: the largest single item, about 4-6 months for a team of 3-4. It's where customer value is realised.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39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EC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1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6245C"/>
                </a:solidFill>
                <a:latin typeface="Segoe UI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3B4A75"/>
                </a:solidFill>
                <a:latin typeface="Segoe UI"/>
              </a:rPr>
              <a:t>• The twin is the only place an agent runs</a:t>
            </a:r>
          </a:p>
          <a:p>
            <a:r>
              <a:rPr sz="1300" b="0">
                <a:solidFill>
                  <a:srgbClr val="3B4A75"/>
                </a:solidFill>
                <a:latin typeface="Segoe UI"/>
              </a:rPr>
              <a:t>• 'DEPLOYED' means published to a registry entry</a:t>
            </a:r>
          </a:p>
          <a:p>
            <a:r>
              <a:rPr sz="1300" b="0">
                <a:solidFill>
                  <a:srgbClr val="3B4A75"/>
                </a:solidFill>
                <a:latin typeface="Segoe UI"/>
              </a:rPr>
              <a:t>• No agent identity, credentials or production tool adapters</a:t>
            </a:r>
          </a:p>
          <a:p>
            <a:r>
              <a:rPr sz="1300" b="0">
                <a:solidFill>
                  <a:srgbClr val="3B4A75"/>
                </a:solidFill>
                <a:latin typeface="Segoe UI"/>
              </a:rPr>
              <a:t>• No production monitoring, so no way to compare live behaviour with the twin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39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16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4591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Enterprise 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DFE7FF"/>
                </a:solidFill>
                <a:latin typeface="Segoe UI"/>
              </a:rPr>
              <a:t>• A runtime that reuses the twin's tool gateway, guardrails and checkpoint model, so tested is what runs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Workload identity per agent, with scoped, short-lived credentials to each system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A human-review inbox for real checkpoints, with SLAs and escalation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Kill switch, canary rollout, live metrics, and drift alerts against the twin baseline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Or a certified hand-off to the customer's agent platform (MCP / A2A)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4 · DATA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From local files to a defensible data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Effort: about 6-8 engineer-weeks, plus the policy work for the DPIA.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39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EC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1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16245C"/>
                </a:solidFill>
                <a:latin typeface="Segoe UI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3B4A75"/>
                </a:solidFill>
                <a:latin typeface="Segoe UI"/>
              </a:rPr>
              <a:t>• API keys in backend/.env</a:t>
            </a:r>
          </a:p>
          <a:p>
            <a:r>
              <a:rPr sz="1300" b="0">
                <a:solidFill>
                  <a:srgbClr val="3B4A75"/>
                </a:solidFill>
                <a:latin typeface="Segoe UI"/>
              </a:rPr>
              <a:t>• Uploads, usage and app logs unencrypted on the container disk</a:t>
            </a:r>
          </a:p>
          <a:p>
            <a:r>
              <a:rPr sz="1300" b="0">
                <a:solidFill>
                  <a:srgbClr val="3B4A75"/>
                </a:solidFill>
                <a:latin typeface="Segoe UI"/>
              </a:rPr>
              <a:t>• Policy text and case data go to a third-party model gateway by default</a:t>
            </a:r>
          </a:p>
          <a:p>
            <a:r>
              <a:rPr sz="1300" b="0">
                <a:solidFill>
                  <a:srgbClr val="3B4A75"/>
                </a:solidFill>
                <a:latin typeface="Segoe UI"/>
              </a:rPr>
              <a:t>• PII redaction by regular expression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39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162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4591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Enterprise 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DFE7FF"/>
                </a:solidFill>
                <a:latin typeface="Segoe UI"/>
              </a:rPr>
              <a:t>• Secrets manager (Vault, Key Vault, Secrets Manager); no secrets in images or env files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Object storage with KMS and customer-managed keys; retention policies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Default-deny model policy: EU-hosted or private models unless allowed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DLP-grade redaction or tokenisation before any model call; full model-call audit log</a:t>
            </a:r>
          </a:p>
          <a:p>
            <a:r>
              <a:rPr sz="1300" b="0">
                <a:solidFill>
                  <a:srgbClr val="DFE7FF"/>
                </a:solidFill>
                <a:latin typeface="Segoe UI"/>
              </a:rPr>
              <a:t>• DPIA and records of processing ready for customers' data protection officers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8FB3FF"/>
                </a:solidFill>
                <a:latin typeface="Segoe UI"/>
              </a:rPr>
              <a:t>PLATFORM AND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Scale, reliability and the codebase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DFE7FF"/>
                </a:solidFill>
                <a:latin typeface="Segoe UI"/>
              </a:rPr>
              <a:t>What changes so the same product serves thousands of cases and dozens of teams.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From one container to a platform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39"/>
          <a:ext cx="10881360" cy="38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Today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nginx serving the SPA; API on :8000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API gateway / WAF, TLS everywhere, rate limits per tenant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One FastAPI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Stateless API pods behind a load balancer, horizontal autoscale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Job worker inside the API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Separate worker pool on the same queue (or Temporal), autoscaled on queue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One Postgres + pgvector in a Docker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Managed Postgres with HA, PITR, read replica, RLS; append-only run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Container filesystem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Object storage (S3 / Blob) with KMS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OpenRouter client with per-unit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LLM gateway: multi-provider, failover, eval-based routing, budgets, caching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Twin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Agent runtime + tool gateway + agent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Log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OpenTelemetry, metrics, alerting, audit log, admin console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start.ps1, docker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Terraform + Helm, CI/CD, blue/green, DR runbooks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SCALE AND RELIABILITY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What 'it scales' has to mean in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39"/>
          <a:ext cx="108813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Today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Concurrent twin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 (8 in demo mode), one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500+ across tenants, with fair share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Run trace writes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Whole trace rewritten per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One append per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Agent lifecycle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Scans every run of the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Maintained on write, O(1)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Single host, no SLA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99.9% (multi-AZ), 99.95% for the agent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None beyond the Docker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RPO 15 min, RTO 1 h, tested 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Model provider outage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Calls 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Automatic failover to a second provider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Cost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Per-batch budget caps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Per-tenant budgets, alerts and showback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ENGINEERING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Measured, and now gated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tools/code_health measures complexity, duplication, hotspots, coupling, dead code, growth and mutation score. A ratchet stops any of it getting worse.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Duplication is low (0.25% exact, 4.14% renamed). Lines per implemented story went from 142 to 164 over 41 commits: each feature costs a little more code than the last.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7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37743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OVER-COMPLEX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218313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6245C"/>
                </a:solidFill>
                <a:latin typeface="Segoe UI"/>
              </a:rPr>
              <a:t>122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8327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cognitive &gt; 15, of 1416; worst 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7570" y="224027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0450" y="237743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TOP HOTSPOT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2651760"/>
            <a:ext cx="218313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6245C"/>
                </a:solidFill>
                <a:latin typeface="Segoe UI"/>
              </a:rPr>
              <a:t>repository.py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450" y="338327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2,111 lines, changed in 19 of 41 commits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224027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7940" y="237743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HIDDEN IMPORT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2651760"/>
            <a:ext cx="218313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6245C"/>
                </a:solidFill>
                <a:latin typeface="Segoe UI"/>
              </a:rPr>
              <a:t>21 packages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338327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dodged by 48 lazy imports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2550" y="2240279"/>
            <a:ext cx="254889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30" y="2377439"/>
            <a:ext cx="218313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D6A90"/>
                </a:solidFill>
                <a:latin typeface="Segoe UI"/>
              </a:rPr>
              <a:t>MUTATION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5430" y="2651760"/>
            <a:ext cx="218313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16245C"/>
                </a:solidFill>
                <a:latin typeface="Segoe UI"/>
              </a:rPr>
              <a:t>56%-84%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5430" y="3383279"/>
            <a:ext cx="218313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share of injected bugs the tests catch, on 4 core modules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ENGINEERING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Refactor the hot core while the product is still young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3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6303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0019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Split the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29967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Per-domain stores (process, agent, twin, context, datasets) and services; orchestration out of the persistence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146303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58640" y="146303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1520" y="160019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A walk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520" y="2029967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The orchestrator's graph walk as a small state machine with parallel gateways, timers and resumable steps, replacing nested closures.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146303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7200" y="146303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60080" y="160019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Remove hidden cycles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0080" y="2029967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Jobs register through entry points, not by importing the app; package boundaries checked in CI.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5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79475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931920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CI with 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361688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Tests, type checks (mypy/pyright), lint, code-health ratchet, docs check and dependency audit on every change.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8640" y="379475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58640" y="379475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41520" y="3931920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Contract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4361688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Pydantic schemas versioned for the JSON columns, with migrations that rewrite old payloads.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7200" y="379475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77200" y="379475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60080" y="3931920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Frontend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4361688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A query cache instead of per-page polling; split the large panels; end-to-end tests of the main journeys.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SECURITY AND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The assurance a regulated buyer will need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39"/>
          <a:ext cx="10881360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it takes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SOC 2 Type 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Controls, evidence automation, 3-6 month observation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Start in phase 1, report around month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ISO 27001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ISMS, risk register, internal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Alongside SOC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GDPR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DPIA template, records of processing, data subject request tooling, EU hosting 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EU AI 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Logging, human-oversight evidence, transparency for high-risk use; the twin's evidence export is a head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DORA / bank outsourcing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Exit plans, sub-processor register, resilience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Phase 3, banking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Penetration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External test before the first production pilot, then yearly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End of 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Twelve months to enterprise 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Phases overlap. Each ends in something a customer can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79"/>
            <a:ext cx="258318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240279"/>
            <a:ext cx="258318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350008"/>
            <a:ext cx="23088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6245C"/>
                </a:solidFill>
                <a:latin typeface="Segoe UI"/>
              </a:rPr>
              <a:t>Phase 0 · Safe to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07208"/>
            <a:ext cx="23088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2F5BD3"/>
                </a:solidFill>
                <a:latin typeface="Segoe UI"/>
              </a:rPr>
              <a:t>Weeks 0-6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59"/>
            <a:ext cx="230886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• OIDC SSO and real roles</a:t>
            </a:r>
          </a:p>
          <a:p>
            <a:r>
              <a:rPr sz="1000" b="0">
                <a:solidFill>
                  <a:srgbClr val="3B4A75"/>
                </a:solidFill>
                <a:latin typeface="Segoe UI"/>
              </a:rPr>
              <a:t>• Secrets manager, object storage, encryption at rest</a:t>
            </a:r>
          </a:p>
          <a:p>
            <a:r>
              <a:rPr sz="1000" b="0">
                <a:solidFill>
                  <a:srgbClr val="3B4A75"/>
                </a:solidFill>
                <a:latin typeface="Segoe UI"/>
              </a:rPr>
              <a:t>• CI with tests and the code-health and docs gates</a:t>
            </a:r>
          </a:p>
          <a:p>
            <a:r>
              <a:rPr sz="1000" b="0">
                <a:solidFill>
                  <a:srgbClr val="3B4A75"/>
                </a:solidFill>
                <a:latin typeface="Segoe UI"/>
              </a:rPr>
              <a:t>• Worker split from the API; append-only run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6140" y="2240279"/>
            <a:ext cx="258318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06140" y="2240279"/>
            <a:ext cx="258318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3300" y="2350008"/>
            <a:ext cx="23088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6245C"/>
                </a:solidFill>
                <a:latin typeface="Segoe UI"/>
              </a:rPr>
              <a:t>Phase 1 · Multi-tenant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300" y="2807208"/>
            <a:ext cx="23088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2F5BD3"/>
                </a:solidFill>
                <a:latin typeface="Segoe UI"/>
              </a:rPr>
              <a:t>Months 2-5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3300" y="3108959"/>
            <a:ext cx="230886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• tenant_id and row-level security</a:t>
            </a:r>
          </a:p>
          <a:p>
            <a:r>
              <a:rPr sz="1000" b="0">
                <a:solidFill>
                  <a:srgbClr val="3B4A75"/>
                </a:solidFill>
                <a:latin typeface="Segoe UI"/>
              </a:rPr>
              <a:t>• Kubernetes/Helm, autoscaled API and workers</a:t>
            </a:r>
          </a:p>
          <a:p>
            <a:r>
              <a:rPr sz="1000" b="0">
                <a:solidFill>
                  <a:srgbClr val="3B4A75"/>
                </a:solidFill>
                <a:latin typeface="Segoe UI"/>
              </a:rPr>
              <a:t>• OpenTelemetry, alerts, audit log</a:t>
            </a:r>
          </a:p>
          <a:p>
            <a:r>
              <a:rPr sz="1000" b="0">
                <a:solidFill>
                  <a:srgbClr val="3B4A75"/>
                </a:solidFill>
                <a:latin typeface="Segoe UI"/>
              </a:rPr>
              <a:t>• LLM gateway with failover and budgets</a:t>
            </a:r>
          </a:p>
          <a:p>
            <a:r>
              <a:rPr sz="1000" b="0">
                <a:solidFill>
                  <a:srgbClr val="3B4A75"/>
                </a:solidFill>
                <a:latin typeface="Segoe UI"/>
              </a:rPr>
              <a:t>• Pen test; SOC 2 controls 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240279"/>
            <a:ext cx="258318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2240279"/>
            <a:ext cx="258318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350008"/>
            <a:ext cx="23088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6245C"/>
                </a:solidFill>
                <a:latin typeface="Segoe UI"/>
              </a:rPr>
              <a:t>Phase 2 · Agents in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07208"/>
            <a:ext cx="23088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2F5BD3"/>
                </a:solidFill>
                <a:latin typeface="Segoe UI"/>
              </a:rPr>
              <a:t>Months 4-8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59"/>
            <a:ext cx="230886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• Agent runtime reusing the twin's gateway</a:t>
            </a:r>
          </a:p>
          <a:p>
            <a:r>
              <a:rPr sz="1000" b="0">
                <a:solidFill>
                  <a:srgbClr val="3B4A75"/>
                </a:solidFill>
                <a:latin typeface="Segoe UI"/>
              </a:rPr>
              <a:t>• Agent identity and scoped credentials</a:t>
            </a:r>
          </a:p>
          <a:p>
            <a:r>
              <a:rPr sz="1000" b="0">
                <a:solidFill>
                  <a:srgbClr val="3B4A75"/>
                </a:solidFill>
                <a:latin typeface="Segoe UI"/>
              </a:rPr>
              <a:t>• Human-review inbox; kill switch; canary</a:t>
            </a:r>
          </a:p>
          <a:p>
            <a:r>
              <a:rPr sz="1000" b="0">
                <a:solidFill>
                  <a:srgbClr val="3B4A75"/>
                </a:solidFill>
                <a:latin typeface="Segoe UI"/>
              </a:rPr>
              <a:t>• Live monitoring and drift against the twin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8260" y="2240279"/>
            <a:ext cx="258318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38260" y="2240279"/>
            <a:ext cx="258318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75420" y="2350008"/>
            <a:ext cx="23088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6245C"/>
                </a:solidFill>
                <a:latin typeface="Segoe UI"/>
              </a:rPr>
              <a:t>Phase 3 · Certified and at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5420" y="2807208"/>
            <a:ext cx="23088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2F5BD3"/>
                </a:solidFill>
                <a:latin typeface="Segoe UI"/>
              </a:rPr>
              <a:t>Months 6-12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5420" y="3108959"/>
            <a:ext cx="230886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3B4A75"/>
                </a:solidFill>
                <a:latin typeface="Segoe UI"/>
              </a:rPr>
              <a:t>• SOC 2 Type II, ISO 27001</a:t>
            </a:r>
          </a:p>
          <a:p>
            <a:r>
              <a:rPr sz="1000" b="0">
                <a:solidFill>
                  <a:srgbClr val="3B4A75"/>
                </a:solidFill>
                <a:latin typeface="Segoe UI"/>
              </a:rPr>
              <a:t>• DR drills; in-region deployments; customer-managed keys</a:t>
            </a:r>
          </a:p>
          <a:p>
            <a:r>
              <a:rPr sz="1000" b="0">
                <a:solidFill>
                  <a:srgbClr val="3B4A75"/>
                </a:solidFill>
                <a:latin typeface="Segoe UI"/>
              </a:rPr>
              <a:t>• Refactor complete: repository split, walk engine</a:t>
            </a:r>
          </a:p>
          <a:p>
            <a:r>
              <a:rPr sz="1000" b="0">
                <a:solidFill>
                  <a:srgbClr val="3B4A75"/>
                </a:solidFill>
                <a:latin typeface="Segoe UI"/>
              </a:rPr>
              <a:t>• Parallel gateways and capacity simulation in the twin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TEAM AND EFFORT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Indicative team (estimate)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3B4A75"/>
                </a:solidFill>
                <a:latin typeface="Segoe UI"/>
              </a:rPr>
              <a:t>A planning figure to size the investment, not a quote.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5D6A90"/>
                </a:solidFill>
                <a:latin typeface="Segoe UI"/>
              </a:rPr>
              <a:t>Roughly 110-130 person-months over 12 months, plus cloud, audit and pen-test costs. Reuse of the existing twin design shortens the agent runtime considerably.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40279"/>
          <a:ext cx="1088136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Phase 0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Phases 1-2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Platform / SRE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Security and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 + external auditor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Evaluation /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Product and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~6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~9-13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~9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What could derail it, and the mitigation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39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162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Tenancy retrofit touches everything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Do it first, behind RLS, before more features; schema linting in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Generated agents are not accurate enough for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Release gate on statistical evidence, stronger models per operation, human checkpoints by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Customers can't supply as-is data for the business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Templates and default benchmarks per process type; time &amp; motion capture in the operating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Model costs at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Prompt caching, smaller models where evaluation allows, per-tenant budgets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Building our own runtime competes with customers' agent platforms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B4A75"/>
                          </a:solidFill>
                        </a:rPr>
                        <a:t>Offer both: our runtime, or a certified hand-off via MCP / A2A with twin evidence attached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DECISIONS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Four decisions to make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3B4A75"/>
                </a:solidFill>
                <a:latin typeface="Segoe UI"/>
              </a:rPr>
              <a:t>These shape the plan more than any engineering choice: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7899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3B4A75"/>
                </a:solidFill>
                <a:latin typeface="Segoe UI"/>
              </a:rPr>
              <a:t>• Deployment model: multi-tenant SaaS, dedicated single-tenant, or both from day one?</a:t>
            </a:r>
          </a:p>
          <a:p>
            <a:r>
              <a:rPr sz="1400" b="0">
                <a:solidFill>
                  <a:srgbClr val="3B4A75"/>
                </a:solidFill>
                <a:latin typeface="Segoe UI"/>
              </a:rPr>
              <a:t>• Runtime strategy: run agents ourselves, hand them to customer platforms, or both?</a:t>
            </a:r>
          </a:p>
          <a:p>
            <a:r>
              <a:rPr sz="1400" b="0">
                <a:solidFill>
                  <a:srgbClr val="3B4A75"/>
                </a:solidFill>
                <a:latin typeface="Segoe UI"/>
              </a:rPr>
              <a:t>• Model strategy: which providers and regions to support for regulated customers (EU-hosted, private)?</a:t>
            </a:r>
          </a:p>
          <a:p>
            <a:r>
              <a:rPr sz="1400" b="0">
                <a:solidFill>
                  <a:srgbClr val="3B4A75"/>
                </a:solidFill>
                <a:latin typeface="Segoe UI"/>
              </a:rPr>
              <a:t>• First certified market: banking (DORA, outsourcing rules) or broader enterprise (SOC 2 first)?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BD3"/>
                </a:solidFill>
                <a:latin typeface="Segoe UI"/>
              </a:rPr>
              <a:t>NEXT 30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6245C"/>
                </a:solidFill>
                <a:latin typeface="Segoe UI"/>
              </a:rPr>
              <a:t>Quick wins that de-risk the first pilot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3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6303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0019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SSO behind a flag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29967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OIDC login with the customer's IdP; remove self-chosen roles.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146303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58640" y="146303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1520" y="160019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Turn on the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520" y="2029967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CI running the 600 tests, the code-health ratchet and the docs check.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146303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7200" y="146303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60080" y="1600199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Split the worker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0080" y="2029967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A separate worker deployment from the same image; the API stops running jobs.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5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79475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931920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Append-only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361688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Move run steps to their own table; the biggest scale fix for the least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8640" y="379475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58640" y="379475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41520" y="3931920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Secrets and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4361688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Secrets out of .env; uploads to object storage with encryption.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7200" y="3794759"/>
            <a:ext cx="3444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77200" y="3794759"/>
            <a:ext cx="3444240" cy="640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60080" y="3931920"/>
            <a:ext cx="307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6245C"/>
                </a:solidFill>
                <a:latin typeface="Segoe UI"/>
              </a:rPr>
              <a:t>Pilot evidence pack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4361688"/>
            <a:ext cx="307848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3B4A75"/>
                </a:solidFill>
                <a:latin typeface="Segoe UI"/>
              </a:rPr>
              <a:t>Process twin report, compliance evidence export and a DPIA draft for the first customer.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2567</Words>
  <Application>Microsoft Office PowerPoint</Application>
  <PresentationFormat>Widescreen</PresentationFormat>
  <Paragraphs>353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Jayendu Kumar</cp:lastModifiedBy>
  <cp:revision>2</cp:revision>
  <dcterms:created xsi:type="dcterms:W3CDTF">2013-01-27T09:14:16Z</dcterms:created>
  <dcterms:modified xsi:type="dcterms:W3CDTF">2026-10-14T02:59:53Z</dcterms:modified>
  <cp:category/>
</cp:coreProperties>
</file>